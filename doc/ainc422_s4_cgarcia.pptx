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725" autoAdjust="0"/>
  </p:normalViewPr>
  <p:slideViewPr>
    <p:cSldViewPr snapToGrid="0" snapToObjects="1">
      <p:cViewPr>
        <p:scale>
          <a:sx n="66" d="100"/>
          <a:sy n="66" d="100"/>
        </p:scale>
        <p:origin x="1128" y="27"/>
      </p:cViewPr>
      <p:guideLst>
        <p:guide orient="horz" pos="2160"/>
        <p:guide pos="2880"/>
      </p:guideLst>
    </p:cSldViewPr>
  </p:slideViewPr>
  <p:notesTextViewPr>
    <p:cViewPr>
      <p:scale>
        <a:sx n="3" d="2"/>
        <a:sy n="3" d="2"/>
      </p:scale>
      <p:origin x="0" y="-27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6097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Buenos días/</a:t>
            </a:r>
            <a:r>
              <a:rPr dirty="0" err="1"/>
              <a:t>tardes</a:t>
            </a:r>
            <a:r>
              <a:rPr dirty="0"/>
              <a:t>. Mi </a:t>
            </a:r>
            <a:r>
              <a:rPr dirty="0" err="1"/>
              <a:t>nombre</a:t>
            </a:r>
            <a:r>
              <a:rPr dirty="0"/>
              <a:t> es Carlos Renato García Quintupil, </a:t>
            </a:r>
            <a:r>
              <a:rPr dirty="0" err="1"/>
              <a:t>estudiante</a:t>
            </a:r>
            <a:r>
              <a:rPr dirty="0"/>
              <a:t> de Ingeniería </a:t>
            </a:r>
            <a:r>
              <a:rPr dirty="0" err="1"/>
              <a:t>en</a:t>
            </a:r>
            <a:r>
              <a:rPr dirty="0"/>
              <a:t> </a:t>
            </a:r>
            <a:r>
              <a:rPr dirty="0" err="1"/>
              <a:t>Informática</a:t>
            </a:r>
            <a:r>
              <a:rPr dirty="0"/>
              <a:t> de la Universidad Andrés Bello. Esta </a:t>
            </a:r>
            <a:r>
              <a:rPr dirty="0" err="1"/>
              <a:t>presentación</a:t>
            </a:r>
            <a:r>
              <a:rPr dirty="0"/>
              <a:t> </a:t>
            </a:r>
            <a:r>
              <a:rPr dirty="0" err="1"/>
              <a:t>corresponde</a:t>
            </a:r>
            <a:r>
              <a:rPr dirty="0"/>
              <a:t> a la </a:t>
            </a:r>
            <a:r>
              <a:rPr dirty="0" err="1"/>
              <a:t>Sumativa</a:t>
            </a:r>
            <a:r>
              <a:rPr dirty="0"/>
              <a:t> 1 de la Semana 4 de AINC422 y </a:t>
            </a:r>
            <a:r>
              <a:rPr dirty="0" err="1"/>
              <a:t>expone</a:t>
            </a:r>
            <a:r>
              <a:rPr dirty="0"/>
              <a:t> el </a:t>
            </a:r>
            <a:r>
              <a:rPr dirty="0" err="1"/>
              <a:t>alcance</a:t>
            </a:r>
            <a:r>
              <a:rPr dirty="0"/>
              <a:t> del </a:t>
            </a:r>
            <a:r>
              <a:rPr dirty="0" err="1"/>
              <a:t>Mínimo</a:t>
            </a:r>
            <a:r>
              <a:rPr dirty="0"/>
              <a:t> </a:t>
            </a:r>
            <a:r>
              <a:rPr dirty="0" err="1"/>
              <a:t>Producto</a:t>
            </a:r>
            <a:r>
              <a:rPr dirty="0"/>
              <a:t> Viable de </a:t>
            </a:r>
            <a:r>
              <a:rPr dirty="0" err="1"/>
              <a:t>FoodVoice</a:t>
            </a:r>
            <a:r>
              <a:rPr dirty="0"/>
              <a:t>, </a:t>
            </a:r>
            <a:r>
              <a:rPr dirty="0" err="1"/>
              <a:t>una</a:t>
            </a:r>
            <a:r>
              <a:rPr dirty="0"/>
              <a:t> </a:t>
            </a:r>
            <a:r>
              <a:rPr dirty="0" err="1"/>
              <a:t>solución</a:t>
            </a:r>
            <a:r>
              <a:rPr dirty="0"/>
              <a:t> para la </a:t>
            </a:r>
            <a:r>
              <a:rPr dirty="0" err="1"/>
              <a:t>gestión</a:t>
            </a:r>
            <a:r>
              <a:rPr dirty="0"/>
              <a:t> de </a:t>
            </a:r>
            <a:r>
              <a:rPr dirty="0" err="1"/>
              <a:t>pedidos</a:t>
            </a:r>
            <a:r>
              <a:rPr dirty="0"/>
              <a:t>, la </a:t>
            </a:r>
            <a:r>
              <a:rPr dirty="0" err="1"/>
              <a:t>trazabilidad</a:t>
            </a:r>
            <a:r>
              <a:rPr dirty="0"/>
              <a:t> del </a:t>
            </a:r>
            <a:r>
              <a:rPr dirty="0" err="1"/>
              <a:t>servicio</a:t>
            </a:r>
            <a:r>
              <a:rPr dirty="0"/>
              <a:t> y el </a:t>
            </a:r>
            <a:r>
              <a:rPr dirty="0" err="1"/>
              <a:t>reparto</a:t>
            </a:r>
            <a:r>
              <a:rPr dirty="0"/>
              <a:t> </a:t>
            </a:r>
            <a:r>
              <a:rPr dirty="0" err="1"/>
              <a:t>asistido</a:t>
            </a:r>
            <a:r>
              <a:rPr dirty="0"/>
              <a:t> </a:t>
            </a:r>
            <a:r>
              <a:rPr dirty="0" err="1"/>
              <a:t>por</a:t>
            </a:r>
            <a:r>
              <a:rPr dirty="0"/>
              <a:t> </a:t>
            </a:r>
            <a:r>
              <a:rPr dirty="0" err="1"/>
              <a:t>geolocalización</a:t>
            </a:r>
            <a:r>
              <a:rPr dirty="0"/>
              <a:t> </a:t>
            </a:r>
            <a:r>
              <a:rPr dirty="0" err="1"/>
              <a:t>móvil</a:t>
            </a:r>
            <a:r>
              <a:rPr dirty="0"/>
              <a:t>. En </a:t>
            </a:r>
            <a:r>
              <a:rPr dirty="0" err="1"/>
              <a:t>los</a:t>
            </a:r>
            <a:r>
              <a:rPr dirty="0"/>
              <a:t> </a:t>
            </a:r>
            <a:r>
              <a:rPr dirty="0" err="1"/>
              <a:t>próximos</a:t>
            </a:r>
            <a:r>
              <a:rPr dirty="0"/>
              <a:t> </a:t>
            </a:r>
            <a:r>
              <a:rPr dirty="0" err="1"/>
              <a:t>minutos</a:t>
            </a:r>
            <a:r>
              <a:rPr dirty="0"/>
              <a:t> </a:t>
            </a:r>
            <a:r>
              <a:rPr dirty="0" err="1"/>
              <a:t>voy</a:t>
            </a:r>
            <a:r>
              <a:rPr dirty="0"/>
              <a:t> a </a:t>
            </a:r>
            <a:r>
              <a:rPr dirty="0" err="1"/>
              <a:t>recorrer</a:t>
            </a:r>
            <a:r>
              <a:rPr dirty="0"/>
              <a:t> el </a:t>
            </a:r>
            <a:r>
              <a:rPr dirty="0" err="1"/>
              <a:t>problema</a:t>
            </a:r>
            <a:r>
              <a:rPr dirty="0"/>
              <a:t> </a:t>
            </a:r>
            <a:r>
              <a:rPr dirty="0" err="1"/>
              <a:t>que</a:t>
            </a:r>
            <a:r>
              <a:rPr dirty="0"/>
              <a:t> da </a:t>
            </a:r>
            <a:r>
              <a:rPr dirty="0" err="1"/>
              <a:t>origen</a:t>
            </a:r>
            <a:r>
              <a:rPr dirty="0"/>
              <a:t> al </a:t>
            </a:r>
            <a:r>
              <a:rPr dirty="0" err="1"/>
              <a:t>proyecto</a:t>
            </a:r>
            <a:r>
              <a:rPr dirty="0"/>
              <a:t>, la </a:t>
            </a:r>
            <a:r>
              <a:rPr dirty="0" err="1"/>
              <a:t>solución</a:t>
            </a:r>
            <a:r>
              <a:rPr dirty="0"/>
              <a:t> </a:t>
            </a:r>
            <a:r>
              <a:rPr dirty="0" err="1"/>
              <a:t>propuesta</a:t>
            </a:r>
            <a:r>
              <a:rPr dirty="0"/>
              <a:t>, </a:t>
            </a:r>
            <a:r>
              <a:rPr dirty="0" err="1"/>
              <a:t>los</a:t>
            </a:r>
            <a:r>
              <a:rPr dirty="0"/>
              <a:t> </a:t>
            </a:r>
            <a:r>
              <a:rPr dirty="0" err="1"/>
              <a:t>requerimientos</a:t>
            </a:r>
            <a:r>
              <a:rPr dirty="0"/>
              <a:t> </a:t>
            </a:r>
            <a:r>
              <a:rPr dirty="0" err="1"/>
              <a:t>priorizados</a:t>
            </a:r>
            <a:r>
              <a:rPr dirty="0"/>
              <a:t> para el MPV</a:t>
            </a:r>
            <a:r>
              <a:rPr lang="es-CL" dirty="0"/>
              <a:t> y</a:t>
            </a:r>
            <a:r>
              <a:rPr dirty="0"/>
              <a:t> </a:t>
            </a:r>
            <a:r>
              <a:rPr dirty="0" err="1"/>
              <a:t>los</a:t>
            </a:r>
            <a:r>
              <a:rPr dirty="0"/>
              <a:t> mockups de las </a:t>
            </a:r>
            <a:r>
              <a:rPr dirty="0" err="1"/>
              <a:t>tres</a:t>
            </a:r>
            <a:r>
              <a:rPr dirty="0"/>
              <a:t> </a:t>
            </a:r>
            <a:r>
              <a:rPr dirty="0" err="1"/>
              <a:t>plataformas</a:t>
            </a:r>
            <a:r>
              <a:rPr lang="es-CL" dirty="0"/>
              <a:t>.</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contextualizar: FoodVoice es una plataforma digital de delivery de alimentos en la que participan tres actores principales —cliente, local comercial y repartidor— y cuyo propósito es facilitar la compra, preparación y entrega de productos mediante tecnologías digitales. Aunque opera sobre una base tecnológica, el diagnóstico realizado en el anteproyecto mostró que buena parte de su operación todavía depende de procesos manuales en etapas críticas del servicio, como el reparto y el cierre. Este entregable da continuidad directa al anteproyecto desarrollado en AINC410 y al Informe 1 / Hito 1 de AINC421, tomando esa fundamentación como base para avanzar hacia una propuesta de solución concreta.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problema central que aborda este proyecto son las deficiencias en la gestión de pedidos, la distribución, la actualización de información y el cierre del servicio en FoodVoice. Estas deficiencias generan reprocesos, baja trazabilidad y una menor eficiencia operativa general. Es importante remarcar que se trata de un problema y no de una oportunidad de mejora: existe una destrucción de valor real en la operación actual, porque los procesos manuales identificados generan pérdidas de eficiencia, errores y reprocesos que afectan directamente la propuesta de valor digital que la plataforma dice ofrecer.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exponer de manera estructurada las causas de este problema utilicé un diagrama de Ishikawa, elaborado en la primera etapa del anteproyecto, que agrupa las causas en cinco categorías —información y sincronización, gestión del local, tecnología, logística y procesos— todas convergentes en un mismo efecto: la ineficiencia operativa del servicio. De ahí se desprenden cinco causas raíz concretas: el uso de un mapa físico en el reparto, que genera demoras y errores de localización; la gestión del local desde un dispositivo fijo, que resta flexibilidad; la dependencia de sincronización manual del menú, que provoca pedidos de productos no disponibles; la baja automatización del cierre del servicio, que aumenta la carga operativa; y la dependencia total de conectividad a internet, que deja al sistema vulnerable ante interrupciones. Estas cinco causas son las que orientan directamente el alcance de la solución que presento a continuación.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solución propuesta consiste en una plataforma web para cliente, local comercial y administrador, más una aplicación móvil para el repartidor. Sus pilares son: geolocalización real —no un mapa físico—, búsqueda de productos por voz, estados de pedido completamente digitales y trazabilidad de extremo a extremo. En el diagrama de contexto se observa cómo los cuatro actores —cliente, local, repartidor y administrador— interactúan con FoodVoice a través de la capa web y móvil que constituye el MPV; el backend y la base de datos persistente quedan planificados para una fase posterior, ya que en esta etapa el foco está en validar la interacción y las funcionalidades críticas con los usuarios.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el desarrollo del MPV adopté Scrum como marco de trabajo único, tanto para la gestión del proyecto como para el desarrollo del producto. Esta decisión se justifica porque FoodVoice combina una plataforma web y una aplicación móvil, con requisitos que pueden ajustarse a medida que se valida cada componente —geolocalización, búsqueda por voz, trazabilidad—, lo que exige un enfoque iterativo e incremental por sobre un modelo en cascada. Al desarrollar el proyecto de forma individual, asumo yo mismo los tres roles Scrum: Product Owner, Scrum Master y Equipo de Desarrollo, diferenciando explícitamente las responsabilidades de cada uno. Los Sprint Review coinciden con los hitos institucionales de las semanas 4, 8 y 12, y este avance corresponde justamente a la fundamentación técnica y al primer incremento funcional del producto.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Product Backlog inicial se compone de siete historias de usuario, derivadas directamente de los objetivos específicos del anteproyecto y priorizadas según su incidencia en el problema central. Las cuatro historias de prioridad alta —gestión de pedidos con estado visible, administración de menú, trazabilidad del pedido y geolocalización móvil del repartidor— están incluidas en el MPV, porque atacan directamente las causas raíz más críticas. La búsqueda asistida por voz, de prioridad media, también se incorpora al MPV por su valor diferenciador. En cambio, el cierre digital del servicio y los controles de flujos críticos, ambas de prioridad media, quedan fuera de esta primera entrega y se abordarán en sprints posteriores.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modelo de casos de uso UML contempla los cuatro actores del sistema —cliente, local comercial, repartidor y administrador— y un total de nueve casos de uso. Existen relaciones «extend» e «include» principalmente sobre el registro de estado del pedido, que es el elemento transversal que conecta la gestión de pedidos con la trazabilidad: distintos casos de uso —como confirmar un pedido, actualizar su estado o registrar la entrega— extienden o incluyen ese registro común, lo que garantiza consistencia en el historial que luego se muestra al cliente y al administrador.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Este es el resumen del alcance del MPV por historia de usuario y plataforma. Quedan dentro del alcance: gestión de pedidos, administración de menú y trazabilidad en la plataforma web; y geolocalización en la aplicación móvil. La búsqueda por voz también se implementa en la web. Quedan fuera de este MPV, para un próximo sprint, el cierre digital del servicio y los controles de flujos críticos. Esta priorización no es arbitraria: responde directamente a las historias que atacan las causas raíz de mayor impacto identificadas en el diagrama de Ishikawa, dejando para una segunda iteración las funcionalidades complementarias.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cronograma del proyecto se organiza en Sprint 0 más cuatro sprints de desarrollo de dos semanas cada uno, a lo largo de doce semanas. Las primeras cuatro semanas corresponden al Sprint 0, dedicado a la fundamentación del problema, la definición del alcance y el Product Backlog; su cierre es el Hito 1, que se materializa en el Informe 1 de la Sumativa 1 —lo que estamos presentando ahora—. A partir de la semana 5 se ejecutan los sprints de desarrollo: arquitectura y prototipo de interfaces en el Sprint 1, el módulo de gestión de pedidos en el Sprint 2 —cuyo cierre es el Hito 2 con el Informe de avance—, geolocalización móvil y trazabilidad en el Sprint 3, y finalmente cierre digital y búsqueda por voz en el Sprint 4, que culmina en el Hito 3 con el informe final del proyecto.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Estos son los mockups de la experiencia del cliente en la plataforma web: el catálogo de productos con la búsqueda por voz integrada, el carrito de compra y el seguimiento del estado del pedido. El diseño prioriza que el cliente pueda ver en todo momento en qué etapa se encuentra su pedido, cerrando así la brecha de trazabilidad detectada en el diagnóstico inicial.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el caso del local comercial y del administrador, los mockups muestran la gestión de pedidos entrantes y la administración del menú, incluyendo la activación y desactivación de productos disponibles. Esto ataca directamente una de las causas raíz identificadas: la dependencia de sincronización manual del menú, que hoy provoca pedidos de productos que ya no están disponibles.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el repartidor, los mockups corresponden a la aplicación móvil: la vista del pedido asignado con la ubicación del cliente en un mapa digital, y la confirmación de la entrega. Esta interfaz reemplaza directamente el uso del mapa físico en papel, que era una de las causas raíz con mayor impacto en demoras y errores de localización.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modelo de datos del MPV está compuesto por siete entidades. Dos de ellas son especialmente relevantes porque sustentan directamente los requerimientos más críticos: HISTORIAL_ESTADO sustenta la historia de trazabilidad del pedido, HU-03, registrando cada cambio de estado de extremo a extremo; y UBICACION sustenta la historia de geolocalización móvil, HU-04, almacenando las coordenadas reportadas por el repartidor. El resto de las entidades —pedido, detalle de pedido, producto, usuario y local— completan la estructura necesaria para operar el flujo de compra y gestión del menú.</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cuanto a la arquitectura técnica del prototipo, es importante ser transparente sobre su alcance actual: no cuenta con backend ni base de datos persistente, el estado de la aplicación vive en memoria durante la sesión, porque estamos en una etapa de prototipo funcional, no de producto en producción. Sin embargo, sí se integran APIs reales del dispositivo: la Web Speech API para la búsqueda por voz, y expo-location para la geolocalización real del repartidor, no simulada. El stack utilizado es React, TypeScript y Vite para la plataforma web, y React Native con Expo y TypeScript para la aplicación móvil.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continuación voy a mostrar una demostración del prototipo funcional. En el flujo web se recorre el catálogo de productos, se agrega al carrito, se genera el pedido y se observa cómo aparece entre los pedidos entrantes del local hasta completar su trazabilidad de estados. En el flujo móvil se muestra un pedido asignado al repartidor con su geolocalización real obtenida mediante GPS, hasta la confirmación de la entrega. [Aquí realizo la demo en vivo o muestro el video de respaldo].</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proyecto se gestiona bajo control de versiones con Git y GitHub, en el repositorio foodvoice. Como ítems de configuración se versionan el código fuente, los informes de las asignaturas AINC410, AINC421 y AINC422, el Product Backlog y los diagramas del proyecto. Se utilizan commits semánticos y toda la estructura queda documentada en el README del repositorio, que separa claramente el proyecto web, desarrollado en React, TypeScript y Vite, del proyecto móvil, desarrollado con Expo, React Native y TypeScript.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tabla de trazabilidad conecta cada historia de usuario incluida en el MPV con sus casos de uso, sus mockups, la entidad de datos que la sustenta y su estado actual de implementación. Se observa que las cinco historias priorizadas —HU-01, HU-02, HU-03, HU-04 y HU-06— están completamente implementadas, ya sea en la plataforma web o en la aplicación móvil, y cada una tiene evidencia concreta en el prototipo. Las historias HU-05 y HU-07 aparecen correctamente marcadas como fuera de alcance en esta iteración, coherente con lo definido en la priorización del backlog.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cerrar: el problema de FoodVoice es tanto operativo como tecnológico, y la solución propuesta ataca directamente sus cinco causas raíz identificadas en el diagrama de Ishikawa. El alcance definido para el MPV es defendible, porque prioriza las historias de mayor impacto y deja fuera, de manera consciente, las funcionalidades complementarias. El prototipo demuestra viabilidad técnica utilizando APIs reales de voz y geolocalización, sin sobredimensionar la infraestructura para esta etapa temprana del proyecto. Como próximo sprint, quedan pendientes el cierre digital y los controles de flujo, además de la evolución hacia un backend real con persistencia de datos.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Estas son las referencias que fundamentan el trabajo: los informes previos del anteproyecto FoodVoice, el PMBOK del Project Management Institute como referencia para la gestión, la Guía de Scrum de Schwaber y Sutherland como marco ágil, el texto de Ingeniería de Software de Sommerville, y la documentación técnica oficial de las APIs de Geolocalización y de Reconocimiento de Voz de MDN, junto con la documentación de React Native y Expo. Muchas gracias por su atención, quedo atento a sus preguntas.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localhost:5173/" TargetMode="External"/><Relationship Id="rId7"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6F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331720"/>
            <a:ext cx="1280160" cy="41148"/>
          </a:xfrm>
          <a:prstGeom prst="rect">
            <a:avLst/>
          </a:prstGeom>
          <a:solidFill>
            <a:srgbClr val="D9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417320"/>
            <a:ext cx="10515600" cy="914400"/>
          </a:xfrm>
          <a:prstGeom prst="rect">
            <a:avLst/>
          </a:prstGeom>
          <a:noFill/>
        </p:spPr>
        <p:txBody>
          <a:bodyPr wrap="square" lIns="0" tIns="0" rIns="0" bIns="0" anchor="t">
            <a:spAutoFit/>
          </a:bodyPr>
          <a:lstStyle/>
          <a:p>
            <a:pPr algn="l">
              <a:lnSpc>
                <a:spcPct val="100000"/>
              </a:lnSpc>
            </a:pPr>
            <a:r>
              <a:rPr sz="5400" b="1" i="0">
                <a:solidFill>
                  <a:srgbClr val="FFFFFF"/>
                </a:solidFill>
                <a:latin typeface="Calibri"/>
              </a:rPr>
              <a:t>FoodVoice</a:t>
            </a:r>
          </a:p>
        </p:txBody>
      </p:sp>
      <p:sp>
        <p:nvSpPr>
          <p:cNvPr id="5" name="TextBox 4"/>
          <p:cNvSpPr txBox="1"/>
          <p:nvPr/>
        </p:nvSpPr>
        <p:spPr>
          <a:xfrm>
            <a:off x="822960" y="2514600"/>
            <a:ext cx="9875520" cy="1005840"/>
          </a:xfrm>
          <a:prstGeom prst="rect">
            <a:avLst/>
          </a:prstGeom>
          <a:noFill/>
        </p:spPr>
        <p:txBody>
          <a:bodyPr wrap="square" lIns="0" tIns="0" rIns="0" bIns="0" anchor="t">
            <a:spAutoFit/>
          </a:bodyPr>
          <a:lstStyle/>
          <a:p>
            <a:pPr algn="l">
              <a:lnSpc>
                <a:spcPct val="100000"/>
              </a:lnSpc>
            </a:pPr>
            <a:r>
              <a:rPr sz="2200" b="0" i="0">
                <a:solidFill>
                  <a:srgbClr val="C9D2CD"/>
                </a:solidFill>
                <a:latin typeface="Calibri"/>
              </a:rPr>
              <a:t>Gestión de pedidos, trazabilidad y reparto asistido por
geolocalización móvil</a:t>
            </a:r>
          </a:p>
        </p:txBody>
      </p:sp>
      <p:sp>
        <p:nvSpPr>
          <p:cNvPr id="6" name="TextBox 5"/>
          <p:cNvSpPr txBox="1"/>
          <p:nvPr/>
        </p:nvSpPr>
        <p:spPr>
          <a:xfrm>
            <a:off x="822960" y="3520440"/>
            <a:ext cx="8229600" cy="457200"/>
          </a:xfrm>
          <a:prstGeom prst="rect">
            <a:avLst/>
          </a:prstGeom>
          <a:noFill/>
        </p:spPr>
        <p:txBody>
          <a:bodyPr wrap="square" lIns="0" tIns="0" rIns="0" bIns="0" anchor="t">
            <a:spAutoFit/>
          </a:bodyPr>
          <a:lstStyle/>
          <a:p>
            <a:pPr algn="l">
              <a:lnSpc>
                <a:spcPct val="100000"/>
              </a:lnSpc>
            </a:pPr>
            <a:r>
              <a:rPr sz="1600" b="1" i="1">
                <a:solidFill>
                  <a:srgbClr val="D9821F"/>
                </a:solidFill>
                <a:latin typeface="Calibri"/>
              </a:rPr>
              <a:t>Alcance del Mínimo Producto Viable (MPV)</a:t>
            </a:r>
          </a:p>
        </p:txBody>
      </p:sp>
      <p:sp>
        <p:nvSpPr>
          <p:cNvPr id="7" name="TextBox 6"/>
          <p:cNvSpPr txBox="1"/>
          <p:nvPr/>
        </p:nvSpPr>
        <p:spPr>
          <a:xfrm>
            <a:off x="822960" y="5623560"/>
            <a:ext cx="7315200" cy="365760"/>
          </a:xfrm>
          <a:prstGeom prst="rect">
            <a:avLst/>
          </a:prstGeom>
          <a:noFill/>
        </p:spPr>
        <p:txBody>
          <a:bodyPr wrap="square" lIns="0" tIns="0" rIns="0" bIns="0" anchor="t">
            <a:spAutoFit/>
          </a:bodyPr>
          <a:lstStyle/>
          <a:p>
            <a:pPr algn="l">
              <a:lnSpc>
                <a:spcPct val="100000"/>
              </a:lnSpc>
            </a:pPr>
            <a:r>
              <a:rPr sz="1500" b="1" i="0">
                <a:solidFill>
                  <a:srgbClr val="FFFFFF"/>
                </a:solidFill>
                <a:latin typeface="Calibri"/>
              </a:rPr>
              <a:t>Carlos Renato García Quintupil</a:t>
            </a:r>
          </a:p>
        </p:txBody>
      </p:sp>
      <p:sp>
        <p:nvSpPr>
          <p:cNvPr id="8" name="TextBox 7"/>
          <p:cNvSpPr txBox="1"/>
          <p:nvPr/>
        </p:nvSpPr>
        <p:spPr>
          <a:xfrm>
            <a:off x="822960" y="5943600"/>
            <a:ext cx="7315200" cy="365760"/>
          </a:xfrm>
          <a:prstGeom prst="rect">
            <a:avLst/>
          </a:prstGeom>
          <a:noFill/>
        </p:spPr>
        <p:txBody>
          <a:bodyPr wrap="square" lIns="0" tIns="0" rIns="0" bIns="0" anchor="t">
            <a:spAutoFit/>
          </a:bodyPr>
          <a:lstStyle/>
          <a:p>
            <a:pPr algn="l">
              <a:lnSpc>
                <a:spcPct val="100000"/>
              </a:lnSpc>
            </a:pPr>
            <a:r>
              <a:rPr sz="1200" b="0" i="0">
                <a:solidFill>
                  <a:srgbClr val="9FB0AA"/>
                </a:solidFill>
                <a:latin typeface="Calibri"/>
              </a:rPr>
              <a:t>Ingeniería en Informática · Universidad Andrés Bello</a:t>
            </a:r>
          </a:p>
        </p:txBody>
      </p:sp>
      <p:sp>
        <p:nvSpPr>
          <p:cNvPr id="9" name="TextBox 8"/>
          <p:cNvSpPr txBox="1"/>
          <p:nvPr/>
        </p:nvSpPr>
        <p:spPr>
          <a:xfrm>
            <a:off x="822960" y="6217920"/>
            <a:ext cx="7315200" cy="365760"/>
          </a:xfrm>
          <a:prstGeom prst="rect">
            <a:avLst/>
          </a:prstGeom>
          <a:noFill/>
        </p:spPr>
        <p:txBody>
          <a:bodyPr wrap="square" lIns="0" tIns="0" rIns="0" bIns="0" anchor="t">
            <a:spAutoFit/>
          </a:bodyPr>
          <a:lstStyle/>
          <a:p>
            <a:pPr algn="l">
              <a:lnSpc>
                <a:spcPct val="100000"/>
              </a:lnSpc>
            </a:pPr>
            <a:r>
              <a:rPr sz="1200" b="0" i="0">
                <a:solidFill>
                  <a:srgbClr val="9FB0AA"/>
                </a:solidFill>
                <a:latin typeface="Calibri"/>
              </a:rPr>
              <a:t>AINC422 · Semana 4 · Sumativa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6F4"/>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lgn="l">
              <a:lnSpc>
                <a:spcPct val="100000"/>
              </a:lnSpc>
            </a:pPr>
            <a:r>
              <a:rPr sz="1200" b="1" i="0">
                <a:solidFill>
                  <a:srgbClr val="D9821F"/>
                </a:solidFill>
                <a:latin typeface="Calibri"/>
              </a:rPr>
              <a:t>APERTURA</a:t>
            </a:r>
          </a:p>
        </p:txBody>
      </p:sp>
      <p:sp>
        <p:nvSpPr>
          <p:cNvPr id="3" name="TextBox 2"/>
          <p:cNvSpPr txBox="1"/>
          <p:nvPr/>
        </p:nvSpPr>
        <p:spPr>
          <a:xfrm>
            <a:off x="548640" y="704088"/>
            <a:ext cx="11064240" cy="640080"/>
          </a:xfrm>
          <a:prstGeom prst="rect">
            <a:avLst/>
          </a:prstGeom>
          <a:noFill/>
        </p:spPr>
        <p:txBody>
          <a:bodyPr wrap="square" lIns="0" tIns="0" rIns="0" bIns="0" anchor="t">
            <a:spAutoFit/>
          </a:bodyPr>
          <a:lstStyle/>
          <a:p>
            <a:pPr algn="l">
              <a:lnSpc>
                <a:spcPct val="100000"/>
              </a:lnSpc>
            </a:pPr>
            <a:r>
              <a:rPr sz="2800" b="1" i="0">
                <a:solidFill>
                  <a:srgbClr val="16232B"/>
                </a:solidFill>
                <a:latin typeface="Calibri"/>
              </a:rPr>
              <a:t>Contextualización</a:t>
            </a:r>
          </a:p>
        </p:txBody>
      </p:sp>
      <p:sp>
        <p:nvSpPr>
          <p:cNvPr id="4" name="Rectangle 3"/>
          <p:cNvSpPr/>
          <p:nvPr/>
        </p:nvSpPr>
        <p:spPr>
          <a:xfrm>
            <a:off x="548640" y="1271016"/>
            <a:ext cx="2743200" cy="27432"/>
          </a:xfrm>
          <a:prstGeom prst="rect">
            <a:avLst/>
          </a:prstGeom>
          <a:solidFill>
            <a:srgbClr val="D9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82496"/>
            <a:ext cx="10789920" cy="3657600"/>
          </a:xfrm>
          <a:prstGeom prst="rect">
            <a:avLst/>
          </a:prstGeom>
          <a:noFill/>
        </p:spPr>
        <p:txBody>
          <a:bodyPr wrap="square" lIns="0" tIns="0">
            <a:spAutoFit/>
          </a:bodyPr>
          <a:lstStyle/>
          <a:p>
            <a:pPr>
              <a:lnSpc>
                <a:spcPct val="112000"/>
              </a:lnSpc>
              <a:spcAft>
                <a:spcPts val="1000"/>
              </a:spcAft>
            </a:pPr>
            <a:r>
              <a:rPr sz="1700" b="1">
                <a:solidFill>
                  <a:srgbClr val="D9821F"/>
                </a:solidFill>
                <a:latin typeface="Calibri"/>
              </a:rPr>
              <a:t>—  </a:t>
            </a:r>
            <a:r>
              <a:rPr sz="1700">
                <a:solidFill>
                  <a:srgbClr val="16232B"/>
                </a:solidFill>
                <a:latin typeface="Calibri"/>
              </a:rPr>
              <a:t>FoodVoice: plataforma de delivery de alimentos con tres actores — cliente, local comercial y repartidor.</a:t>
            </a:r>
          </a:p>
          <a:p>
            <a:pPr>
              <a:lnSpc>
                <a:spcPct val="112000"/>
              </a:lnSpc>
              <a:spcAft>
                <a:spcPts val="1000"/>
              </a:spcAft>
            </a:pPr>
            <a:r>
              <a:rPr sz="1700" b="1">
                <a:solidFill>
                  <a:srgbClr val="D9821F"/>
                </a:solidFill>
                <a:latin typeface="Calibri"/>
              </a:rPr>
              <a:t>—  </a:t>
            </a:r>
            <a:r>
              <a:rPr sz="1700">
                <a:solidFill>
                  <a:srgbClr val="16232B"/>
                </a:solidFill>
                <a:latin typeface="Calibri"/>
              </a:rPr>
              <a:t>Opera sobre una base tecnológica, pero mantiene procesos manuales en etapas críticas del servicio.</a:t>
            </a:r>
          </a:p>
          <a:p>
            <a:pPr>
              <a:lnSpc>
                <a:spcPct val="112000"/>
              </a:lnSpc>
              <a:spcAft>
                <a:spcPts val="1000"/>
              </a:spcAft>
            </a:pPr>
            <a:r>
              <a:rPr sz="1700" b="1">
                <a:solidFill>
                  <a:srgbClr val="D9821F"/>
                </a:solidFill>
                <a:latin typeface="Calibri"/>
              </a:rPr>
              <a:t>—  </a:t>
            </a:r>
            <a:r>
              <a:rPr sz="1700">
                <a:solidFill>
                  <a:srgbClr val="16232B"/>
                </a:solidFill>
                <a:latin typeface="Calibri"/>
              </a:rPr>
              <a:t>Este entregable da continuidad al anteproyecto (AINC410) y al Informe 1 / Hito 1 (AINC421).</a:t>
            </a:r>
          </a:p>
        </p:txBody>
      </p:sp>
      <p:sp>
        <p:nvSpPr>
          <p:cNvPr id="6" name="Rectangle 5"/>
          <p:cNvSpPr/>
          <p:nvPr/>
        </p:nvSpPr>
        <p:spPr>
          <a:xfrm>
            <a:off x="0" y="6528816"/>
            <a:ext cx="12191695" cy="18288"/>
          </a:xfrm>
          <a:prstGeom prst="rect">
            <a:avLst/>
          </a:prstGeom>
          <a:solidFill>
            <a:srgbClr val="C9D2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7315200" cy="274320"/>
          </a:xfrm>
          <a:prstGeom prst="rect">
            <a:avLst/>
          </a:prstGeom>
          <a:noFill/>
        </p:spPr>
        <p:txBody>
          <a:bodyPr wrap="square" lIns="0" tIns="0" rIns="0" bIns="0" anchor="t">
            <a:spAutoFit/>
          </a:bodyPr>
          <a:lstStyle/>
          <a:p>
            <a:pPr algn="l">
              <a:lnSpc>
                <a:spcPct val="100000"/>
              </a:lnSpc>
            </a:pPr>
            <a:r>
              <a:rPr sz="900" b="0" i="0">
                <a:solidFill>
                  <a:srgbClr val="57666C"/>
                </a:solidFill>
                <a:latin typeface="Calibri"/>
              </a:rPr>
              <a:t>FoodVoice · AINC422 · Semana 4</a:t>
            </a:r>
          </a:p>
        </p:txBody>
      </p:sp>
      <p:sp>
        <p:nvSpPr>
          <p:cNvPr id="8" name="TextBox 7"/>
          <p:cNvSpPr txBox="1"/>
          <p:nvPr/>
        </p:nvSpPr>
        <p:spPr>
          <a:xfrm>
            <a:off x="11094415" y="6583680"/>
            <a:ext cx="640080" cy="274320"/>
          </a:xfrm>
          <a:prstGeom prst="rect">
            <a:avLst/>
          </a:prstGeom>
          <a:noFill/>
        </p:spPr>
        <p:txBody>
          <a:bodyPr wrap="square" lIns="0" tIns="0" rIns="0" bIns="0" anchor="t">
            <a:spAutoFit/>
          </a:bodyPr>
          <a:lstStyle/>
          <a:p>
            <a:pPr algn="r">
              <a:lnSpc>
                <a:spcPct val="100000"/>
              </a:lnSpc>
            </a:pPr>
            <a:r>
              <a:rPr sz="900" b="0" i="0">
                <a:solidFill>
                  <a:srgbClr val="57666C"/>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6F4"/>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lgn="l">
              <a:lnSpc>
                <a:spcPct val="100000"/>
              </a:lnSpc>
            </a:pPr>
            <a:r>
              <a:rPr sz="1200" b="1" i="0">
                <a:solidFill>
                  <a:srgbClr val="D9821F"/>
                </a:solidFill>
                <a:latin typeface="Calibri"/>
              </a:rPr>
              <a:t>APERTURA</a:t>
            </a:r>
          </a:p>
        </p:txBody>
      </p:sp>
      <p:sp>
        <p:nvSpPr>
          <p:cNvPr id="3" name="TextBox 2"/>
          <p:cNvSpPr txBox="1"/>
          <p:nvPr/>
        </p:nvSpPr>
        <p:spPr>
          <a:xfrm>
            <a:off x="548640" y="704088"/>
            <a:ext cx="11064240" cy="640080"/>
          </a:xfrm>
          <a:prstGeom prst="rect">
            <a:avLst/>
          </a:prstGeom>
          <a:noFill/>
        </p:spPr>
        <p:txBody>
          <a:bodyPr wrap="square" lIns="0" tIns="0" rIns="0" bIns="0" anchor="t">
            <a:spAutoFit/>
          </a:bodyPr>
          <a:lstStyle/>
          <a:p>
            <a:pPr algn="l">
              <a:lnSpc>
                <a:spcPct val="100000"/>
              </a:lnSpc>
            </a:pPr>
            <a:r>
              <a:rPr sz="2800" b="1" i="0">
                <a:solidFill>
                  <a:srgbClr val="16232B"/>
                </a:solidFill>
                <a:latin typeface="Calibri"/>
              </a:rPr>
              <a:t>Problema</a:t>
            </a:r>
          </a:p>
        </p:txBody>
      </p:sp>
      <p:sp>
        <p:nvSpPr>
          <p:cNvPr id="4" name="Rectangle 3"/>
          <p:cNvSpPr/>
          <p:nvPr/>
        </p:nvSpPr>
        <p:spPr>
          <a:xfrm>
            <a:off x="548640" y="1271016"/>
            <a:ext cx="2743200" cy="27432"/>
          </a:xfrm>
          <a:prstGeom prst="rect">
            <a:avLst/>
          </a:prstGeom>
          <a:solidFill>
            <a:srgbClr val="D9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82496"/>
            <a:ext cx="10789920" cy="3657600"/>
          </a:xfrm>
          <a:prstGeom prst="rect">
            <a:avLst/>
          </a:prstGeom>
          <a:noFill/>
        </p:spPr>
        <p:txBody>
          <a:bodyPr wrap="square" lIns="0" tIns="0">
            <a:spAutoFit/>
          </a:bodyPr>
          <a:lstStyle/>
          <a:p>
            <a:pPr>
              <a:lnSpc>
                <a:spcPct val="112000"/>
              </a:lnSpc>
              <a:spcAft>
                <a:spcPts val="1000"/>
              </a:spcAft>
            </a:pPr>
            <a:r>
              <a:rPr sz="1700" b="1">
                <a:solidFill>
                  <a:srgbClr val="D9821F"/>
                </a:solidFill>
                <a:latin typeface="Calibri"/>
              </a:rPr>
              <a:t>—  </a:t>
            </a:r>
            <a:r>
              <a:rPr sz="1700">
                <a:solidFill>
                  <a:srgbClr val="16232B"/>
                </a:solidFill>
                <a:latin typeface="Calibri"/>
              </a:rPr>
              <a:t>Problema central: deficiencias en la gestión de pedidos, la distribución, la actualización de información y el cierre del servicio.</a:t>
            </a:r>
          </a:p>
          <a:p>
            <a:pPr>
              <a:lnSpc>
                <a:spcPct val="112000"/>
              </a:lnSpc>
              <a:spcAft>
                <a:spcPts val="1000"/>
              </a:spcAft>
            </a:pPr>
            <a:r>
              <a:rPr sz="1700" b="1">
                <a:solidFill>
                  <a:srgbClr val="D9821F"/>
                </a:solidFill>
                <a:latin typeface="Calibri"/>
              </a:rPr>
              <a:t>—  </a:t>
            </a:r>
            <a:r>
              <a:rPr sz="1700">
                <a:solidFill>
                  <a:srgbClr val="16232B"/>
                </a:solidFill>
                <a:latin typeface="Calibri"/>
              </a:rPr>
              <a:t>Efectos: reprocesos, baja trazabilidad y menor eficiencia operativa.</a:t>
            </a:r>
          </a:p>
          <a:p>
            <a:pPr>
              <a:lnSpc>
                <a:spcPct val="112000"/>
              </a:lnSpc>
              <a:spcAft>
                <a:spcPts val="1000"/>
              </a:spcAft>
            </a:pPr>
            <a:r>
              <a:rPr sz="1700" b="1">
                <a:solidFill>
                  <a:srgbClr val="D9821F"/>
                </a:solidFill>
                <a:latin typeface="Calibri"/>
              </a:rPr>
              <a:t>—  </a:t>
            </a:r>
            <a:r>
              <a:rPr sz="1700">
                <a:solidFill>
                  <a:srgbClr val="16232B"/>
                </a:solidFill>
                <a:latin typeface="Calibri"/>
              </a:rPr>
              <a:t>Es un problema, no una oportunidad: existe destrucción de valor en la operación actual.</a:t>
            </a:r>
          </a:p>
        </p:txBody>
      </p:sp>
      <p:sp>
        <p:nvSpPr>
          <p:cNvPr id="6" name="Rectangle 5"/>
          <p:cNvSpPr/>
          <p:nvPr/>
        </p:nvSpPr>
        <p:spPr>
          <a:xfrm>
            <a:off x="0" y="6528816"/>
            <a:ext cx="12191695" cy="18288"/>
          </a:xfrm>
          <a:prstGeom prst="rect">
            <a:avLst/>
          </a:prstGeom>
          <a:solidFill>
            <a:srgbClr val="C9D2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7315200" cy="274320"/>
          </a:xfrm>
          <a:prstGeom prst="rect">
            <a:avLst/>
          </a:prstGeom>
          <a:noFill/>
        </p:spPr>
        <p:txBody>
          <a:bodyPr wrap="square" lIns="0" tIns="0" rIns="0" bIns="0" anchor="t">
            <a:spAutoFit/>
          </a:bodyPr>
          <a:lstStyle/>
          <a:p>
            <a:pPr algn="l">
              <a:lnSpc>
                <a:spcPct val="100000"/>
              </a:lnSpc>
            </a:pPr>
            <a:r>
              <a:rPr sz="900" b="0" i="0">
                <a:solidFill>
                  <a:srgbClr val="57666C"/>
                </a:solidFill>
                <a:latin typeface="Calibri"/>
              </a:rPr>
              <a:t>FoodVoice · AINC422 · Semana 4</a:t>
            </a:r>
          </a:p>
        </p:txBody>
      </p:sp>
      <p:sp>
        <p:nvSpPr>
          <p:cNvPr id="8" name="TextBox 7"/>
          <p:cNvSpPr txBox="1"/>
          <p:nvPr/>
        </p:nvSpPr>
        <p:spPr>
          <a:xfrm>
            <a:off x="11094415" y="6583680"/>
            <a:ext cx="640080" cy="274320"/>
          </a:xfrm>
          <a:prstGeom prst="rect">
            <a:avLst/>
          </a:prstGeom>
          <a:noFill/>
        </p:spPr>
        <p:txBody>
          <a:bodyPr wrap="square" lIns="0" tIns="0" rIns="0" bIns="0" anchor="t">
            <a:spAutoFit/>
          </a:bodyPr>
          <a:lstStyle/>
          <a:p>
            <a:pPr algn="r">
              <a:lnSpc>
                <a:spcPct val="100000"/>
              </a:lnSpc>
            </a:pPr>
            <a:r>
              <a:rPr sz="900" b="0" i="0">
                <a:solidFill>
                  <a:srgbClr val="57666C"/>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6F4"/>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lgn="l">
              <a:lnSpc>
                <a:spcPct val="100000"/>
              </a:lnSpc>
            </a:pPr>
            <a:r>
              <a:rPr sz="1200" b="1" i="0">
                <a:solidFill>
                  <a:srgbClr val="D9821F"/>
                </a:solidFill>
                <a:latin typeface="Calibri"/>
              </a:rPr>
              <a:t>APERTURA</a:t>
            </a:r>
          </a:p>
        </p:txBody>
      </p:sp>
      <p:sp>
        <p:nvSpPr>
          <p:cNvPr id="3" name="TextBox 2"/>
          <p:cNvSpPr txBox="1"/>
          <p:nvPr/>
        </p:nvSpPr>
        <p:spPr>
          <a:xfrm>
            <a:off x="548640" y="704088"/>
            <a:ext cx="11064240" cy="640080"/>
          </a:xfrm>
          <a:prstGeom prst="rect">
            <a:avLst/>
          </a:prstGeom>
          <a:noFill/>
        </p:spPr>
        <p:txBody>
          <a:bodyPr wrap="square" lIns="0" tIns="0" rIns="0" bIns="0" anchor="t">
            <a:spAutoFit/>
          </a:bodyPr>
          <a:lstStyle/>
          <a:p>
            <a:pPr algn="l">
              <a:lnSpc>
                <a:spcPct val="100000"/>
              </a:lnSpc>
            </a:pPr>
            <a:r>
              <a:rPr sz="2800" b="1" i="0">
                <a:solidFill>
                  <a:srgbClr val="16232B"/>
                </a:solidFill>
                <a:latin typeface="Calibri"/>
              </a:rPr>
              <a:t>Problema — causas raíz</a:t>
            </a:r>
          </a:p>
        </p:txBody>
      </p:sp>
      <p:sp>
        <p:nvSpPr>
          <p:cNvPr id="4" name="Rectangle 3"/>
          <p:cNvSpPr/>
          <p:nvPr/>
        </p:nvSpPr>
        <p:spPr>
          <a:xfrm>
            <a:off x="548640" y="1271016"/>
            <a:ext cx="2743200" cy="27432"/>
          </a:xfrm>
          <a:prstGeom prst="rect">
            <a:avLst/>
          </a:prstGeom>
          <a:solidFill>
            <a:srgbClr val="D9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99616"/>
            <a:ext cx="10058400" cy="320040"/>
          </a:xfrm>
          <a:prstGeom prst="rect">
            <a:avLst/>
          </a:prstGeom>
          <a:noFill/>
        </p:spPr>
        <p:txBody>
          <a:bodyPr wrap="square" lIns="0" tIns="0" rIns="0" bIns="0" anchor="t">
            <a:spAutoFit/>
          </a:bodyPr>
          <a:lstStyle/>
          <a:p>
            <a:pPr algn="l">
              <a:lnSpc>
                <a:spcPct val="100000"/>
              </a:lnSpc>
            </a:pPr>
            <a:r>
              <a:rPr sz="1400" b="0" i="1">
                <a:solidFill>
                  <a:srgbClr val="57666C"/>
                </a:solidFill>
                <a:latin typeface="Calibri"/>
              </a:rPr>
              <a:t>Diagrama de Ishikawa: 5 categorías convergen en la ineficiencia operativa del servicio.</a:t>
            </a:r>
          </a:p>
        </p:txBody>
      </p:sp>
      <p:graphicFrame>
        <p:nvGraphicFramePr>
          <p:cNvPr id="6" name="Table 5"/>
          <p:cNvGraphicFramePr>
            <a:graphicFrameLocks noGrp="1"/>
          </p:cNvGraphicFramePr>
          <p:nvPr/>
        </p:nvGraphicFramePr>
        <p:xfrm>
          <a:off x="548640" y="2002536"/>
          <a:ext cx="11064238" cy="3291840"/>
        </p:xfrm>
        <a:graphic>
          <a:graphicData uri="http://schemas.openxmlformats.org/drawingml/2006/table">
            <a:tbl>
              <a:tblPr firstRow="1" bandRow="1">
                <a:tableStyleId>{5C22544A-7EE6-4342-B048-85BDC9FD1C3A}</a:tableStyleId>
              </a:tblPr>
              <a:tblGrid>
                <a:gridCol w="539719">
                  <a:extLst>
                    <a:ext uri="{9D8B030D-6E8A-4147-A177-3AD203B41FA5}">
                      <a16:colId xmlns:a16="http://schemas.microsoft.com/office/drawing/2014/main" val="20000"/>
                    </a:ext>
                  </a:extLst>
                </a:gridCol>
                <a:gridCol w="3508173">
                  <a:extLst>
                    <a:ext uri="{9D8B030D-6E8A-4147-A177-3AD203B41FA5}">
                      <a16:colId xmlns:a16="http://schemas.microsoft.com/office/drawing/2014/main" val="20001"/>
                    </a:ext>
                  </a:extLst>
                </a:gridCol>
                <a:gridCol w="2968454">
                  <a:extLst>
                    <a:ext uri="{9D8B030D-6E8A-4147-A177-3AD203B41FA5}">
                      <a16:colId xmlns:a16="http://schemas.microsoft.com/office/drawing/2014/main" val="20002"/>
                    </a:ext>
                  </a:extLst>
                </a:gridCol>
                <a:gridCol w="4047892">
                  <a:extLst>
                    <a:ext uri="{9D8B030D-6E8A-4147-A177-3AD203B41FA5}">
                      <a16:colId xmlns:a16="http://schemas.microsoft.com/office/drawing/2014/main" val="20003"/>
                    </a:ext>
                  </a:extLst>
                </a:gridCol>
              </a:tblGrid>
              <a:tr h="548640">
                <a:tc>
                  <a:txBody>
                    <a:bodyPr/>
                    <a:lstStyle/>
                    <a:p>
                      <a:pPr>
                        <a:defRPr sz="1200" b="1">
                          <a:solidFill>
                            <a:srgbClr val="FFFFFF"/>
                          </a:solidFill>
                          <a:latin typeface="Calibri"/>
                        </a:defRPr>
                      </a:pPr>
                      <a:r>
                        <a:t>N°</a:t>
                      </a:r>
                    </a:p>
                  </a:txBody>
                  <a:tcPr marL="76200" marR="76200" marT="38100" marB="38100" anchor="ctr">
                    <a:solidFill>
                      <a:srgbClr val="16232B"/>
                    </a:solidFill>
                  </a:tcPr>
                </a:tc>
                <a:tc>
                  <a:txBody>
                    <a:bodyPr/>
                    <a:lstStyle/>
                    <a:p>
                      <a:pPr>
                        <a:defRPr sz="1200" b="1">
                          <a:solidFill>
                            <a:srgbClr val="FFFFFF"/>
                          </a:solidFill>
                          <a:latin typeface="Calibri"/>
                        </a:defRPr>
                      </a:pPr>
                      <a:r>
                        <a:t>Causa raíz</a:t>
                      </a:r>
                    </a:p>
                  </a:txBody>
                  <a:tcPr marL="76200" marR="76200" marT="38100" marB="38100" anchor="ctr">
                    <a:solidFill>
                      <a:srgbClr val="16232B"/>
                    </a:solidFill>
                  </a:tcPr>
                </a:tc>
                <a:tc>
                  <a:txBody>
                    <a:bodyPr/>
                    <a:lstStyle/>
                    <a:p>
                      <a:pPr>
                        <a:defRPr sz="1200" b="1">
                          <a:solidFill>
                            <a:srgbClr val="FFFFFF"/>
                          </a:solidFill>
                          <a:latin typeface="Calibri"/>
                        </a:defRPr>
                      </a:pPr>
                      <a:r>
                        <a:t>Categoría</a:t>
                      </a:r>
                    </a:p>
                  </a:txBody>
                  <a:tcPr marL="76200" marR="76200" marT="38100" marB="38100" anchor="ctr">
                    <a:solidFill>
                      <a:srgbClr val="16232B"/>
                    </a:solidFill>
                  </a:tcPr>
                </a:tc>
                <a:tc>
                  <a:txBody>
                    <a:bodyPr/>
                    <a:lstStyle/>
                    <a:p>
                      <a:pPr>
                        <a:defRPr sz="1200" b="1">
                          <a:solidFill>
                            <a:srgbClr val="FFFFFF"/>
                          </a:solidFill>
                          <a:latin typeface="Calibri"/>
                        </a:defRPr>
                      </a:pPr>
                      <a:r>
                        <a:t>Efecto principal</a:t>
                      </a:r>
                    </a:p>
                  </a:txBody>
                  <a:tcPr marL="76200" marR="76200" marT="38100" marB="38100" anchor="ctr">
                    <a:solidFill>
                      <a:srgbClr val="16232B"/>
                    </a:solidFill>
                  </a:tcPr>
                </a:tc>
                <a:extLst>
                  <a:ext uri="{0D108BD9-81ED-4DB2-BD59-A6C34878D82A}">
                    <a16:rowId xmlns:a16="http://schemas.microsoft.com/office/drawing/2014/main" val="10000"/>
                  </a:ext>
                </a:extLst>
              </a:tr>
              <a:tr h="548640">
                <a:tc>
                  <a:txBody>
                    <a:bodyPr/>
                    <a:lstStyle/>
                    <a:p>
                      <a:pPr>
                        <a:defRPr sz="1200">
                          <a:solidFill>
                            <a:srgbClr val="16232B"/>
                          </a:solidFill>
                          <a:latin typeface="Calibri"/>
                        </a:defRPr>
                      </a:pPr>
                      <a:r>
                        <a:t>1</a:t>
                      </a:r>
                    </a:p>
                  </a:txBody>
                  <a:tcPr marL="76200" marR="76200" marT="25400" marB="25400" anchor="ctr">
                    <a:solidFill>
                      <a:srgbClr val="F3F6F4"/>
                    </a:solidFill>
                  </a:tcPr>
                </a:tc>
                <a:tc>
                  <a:txBody>
                    <a:bodyPr/>
                    <a:lstStyle/>
                    <a:p>
                      <a:pPr>
                        <a:defRPr sz="1200">
                          <a:solidFill>
                            <a:srgbClr val="16232B"/>
                          </a:solidFill>
                          <a:latin typeface="Calibri"/>
                        </a:defRPr>
                      </a:pPr>
                      <a:r>
                        <a:t>Uso de mapa físico en el reparto</a:t>
                      </a:r>
                    </a:p>
                  </a:txBody>
                  <a:tcPr marL="76200" marR="76200" marT="25400" marB="25400" anchor="ctr">
                    <a:solidFill>
                      <a:srgbClr val="F3F6F4"/>
                    </a:solidFill>
                  </a:tcPr>
                </a:tc>
                <a:tc>
                  <a:txBody>
                    <a:bodyPr/>
                    <a:lstStyle/>
                    <a:p>
                      <a:pPr>
                        <a:defRPr sz="1200">
                          <a:solidFill>
                            <a:srgbClr val="16232B"/>
                          </a:solidFill>
                          <a:latin typeface="Calibri"/>
                        </a:defRPr>
                      </a:pPr>
                      <a:r>
                        <a:t>Tecnología / Logística</a:t>
                      </a:r>
                    </a:p>
                  </a:txBody>
                  <a:tcPr marL="76200" marR="76200" marT="25400" marB="25400" anchor="ctr">
                    <a:solidFill>
                      <a:srgbClr val="F3F6F4"/>
                    </a:solidFill>
                  </a:tcPr>
                </a:tc>
                <a:tc>
                  <a:txBody>
                    <a:bodyPr/>
                    <a:lstStyle/>
                    <a:p>
                      <a:pPr>
                        <a:defRPr sz="1200">
                          <a:solidFill>
                            <a:srgbClr val="16232B"/>
                          </a:solidFill>
                          <a:latin typeface="Calibri"/>
                        </a:defRPr>
                      </a:pPr>
                      <a:r>
                        <a:t>Demoras y errores de localización</a:t>
                      </a:r>
                    </a:p>
                  </a:txBody>
                  <a:tcPr marL="76200" marR="76200" marT="25400" marB="25400" anchor="ctr">
                    <a:solidFill>
                      <a:srgbClr val="F3F6F4"/>
                    </a:solidFill>
                  </a:tcPr>
                </a:tc>
                <a:extLst>
                  <a:ext uri="{0D108BD9-81ED-4DB2-BD59-A6C34878D82A}">
                    <a16:rowId xmlns:a16="http://schemas.microsoft.com/office/drawing/2014/main" val="10001"/>
                  </a:ext>
                </a:extLst>
              </a:tr>
              <a:tr h="548640">
                <a:tc>
                  <a:txBody>
                    <a:bodyPr/>
                    <a:lstStyle/>
                    <a:p>
                      <a:pPr>
                        <a:defRPr sz="1200">
                          <a:solidFill>
                            <a:srgbClr val="16232B"/>
                          </a:solidFill>
                          <a:latin typeface="Calibri"/>
                        </a:defRPr>
                      </a:pPr>
                      <a:r>
                        <a:t>2</a:t>
                      </a:r>
                    </a:p>
                  </a:txBody>
                  <a:tcPr marL="76200" marR="76200" marT="25400" marB="25400" anchor="ctr">
                    <a:solidFill>
                      <a:srgbClr val="FFFFFF"/>
                    </a:solidFill>
                  </a:tcPr>
                </a:tc>
                <a:tc>
                  <a:txBody>
                    <a:bodyPr/>
                    <a:lstStyle/>
                    <a:p>
                      <a:pPr>
                        <a:defRPr sz="1200">
                          <a:solidFill>
                            <a:srgbClr val="16232B"/>
                          </a:solidFill>
                          <a:latin typeface="Calibri"/>
                        </a:defRPr>
                      </a:pPr>
                      <a:r>
                        <a:t>Gestión del local desde dispositivo fijo</a:t>
                      </a:r>
                    </a:p>
                  </a:txBody>
                  <a:tcPr marL="76200" marR="76200" marT="25400" marB="25400" anchor="ctr">
                    <a:solidFill>
                      <a:srgbClr val="FFFFFF"/>
                    </a:solidFill>
                  </a:tcPr>
                </a:tc>
                <a:tc>
                  <a:txBody>
                    <a:bodyPr/>
                    <a:lstStyle/>
                    <a:p>
                      <a:pPr>
                        <a:defRPr sz="1200">
                          <a:solidFill>
                            <a:srgbClr val="16232B"/>
                          </a:solidFill>
                          <a:latin typeface="Calibri"/>
                        </a:defRPr>
                      </a:pPr>
                      <a:r>
                        <a:t>Gestión del local</a:t>
                      </a:r>
                    </a:p>
                  </a:txBody>
                  <a:tcPr marL="76200" marR="76200" marT="25400" marB="25400" anchor="ctr">
                    <a:solidFill>
                      <a:srgbClr val="FFFFFF"/>
                    </a:solidFill>
                  </a:tcPr>
                </a:tc>
                <a:tc>
                  <a:txBody>
                    <a:bodyPr/>
                    <a:lstStyle/>
                    <a:p>
                      <a:pPr>
                        <a:defRPr sz="1200">
                          <a:solidFill>
                            <a:srgbClr val="16232B"/>
                          </a:solidFill>
                          <a:latin typeface="Calibri"/>
                        </a:defRPr>
                      </a:pPr>
                      <a:r>
                        <a:t>Menor flexibilidad operativa</a:t>
                      </a:r>
                    </a:p>
                  </a:txBody>
                  <a:tcPr marL="76200" marR="76200" marT="25400" marB="25400" anchor="ctr">
                    <a:solidFill>
                      <a:srgbClr val="FFFFFF"/>
                    </a:solidFill>
                  </a:tcPr>
                </a:tc>
                <a:extLst>
                  <a:ext uri="{0D108BD9-81ED-4DB2-BD59-A6C34878D82A}">
                    <a16:rowId xmlns:a16="http://schemas.microsoft.com/office/drawing/2014/main" val="10002"/>
                  </a:ext>
                </a:extLst>
              </a:tr>
              <a:tr h="548640">
                <a:tc>
                  <a:txBody>
                    <a:bodyPr/>
                    <a:lstStyle/>
                    <a:p>
                      <a:pPr>
                        <a:defRPr sz="1200">
                          <a:solidFill>
                            <a:srgbClr val="16232B"/>
                          </a:solidFill>
                          <a:latin typeface="Calibri"/>
                        </a:defRPr>
                      </a:pPr>
                      <a:r>
                        <a:t>3</a:t>
                      </a:r>
                    </a:p>
                  </a:txBody>
                  <a:tcPr marL="76200" marR="76200" marT="25400" marB="25400" anchor="ctr">
                    <a:solidFill>
                      <a:srgbClr val="F3F6F4"/>
                    </a:solidFill>
                  </a:tcPr>
                </a:tc>
                <a:tc>
                  <a:txBody>
                    <a:bodyPr/>
                    <a:lstStyle/>
                    <a:p>
                      <a:pPr>
                        <a:defRPr sz="1200">
                          <a:solidFill>
                            <a:srgbClr val="16232B"/>
                          </a:solidFill>
                          <a:latin typeface="Calibri"/>
                        </a:defRPr>
                      </a:pPr>
                      <a:r>
                        <a:t>Dependencia de sincronización del menú</a:t>
                      </a:r>
                    </a:p>
                  </a:txBody>
                  <a:tcPr marL="76200" marR="76200" marT="25400" marB="25400" anchor="ctr">
                    <a:solidFill>
                      <a:srgbClr val="F3F6F4"/>
                    </a:solidFill>
                  </a:tcPr>
                </a:tc>
                <a:tc>
                  <a:txBody>
                    <a:bodyPr/>
                    <a:lstStyle/>
                    <a:p>
                      <a:pPr>
                        <a:defRPr sz="1200">
                          <a:solidFill>
                            <a:srgbClr val="16232B"/>
                          </a:solidFill>
                          <a:latin typeface="Calibri"/>
                        </a:defRPr>
                      </a:pPr>
                      <a:r>
                        <a:t>Información y sincronización</a:t>
                      </a:r>
                    </a:p>
                  </a:txBody>
                  <a:tcPr marL="76200" marR="76200" marT="25400" marB="25400" anchor="ctr">
                    <a:solidFill>
                      <a:srgbClr val="F3F6F4"/>
                    </a:solidFill>
                  </a:tcPr>
                </a:tc>
                <a:tc>
                  <a:txBody>
                    <a:bodyPr/>
                    <a:lstStyle/>
                    <a:p>
                      <a:pPr>
                        <a:defRPr sz="1200">
                          <a:solidFill>
                            <a:srgbClr val="16232B"/>
                          </a:solidFill>
                          <a:latin typeface="Calibri"/>
                        </a:defRPr>
                      </a:pPr>
                      <a:r>
                        <a:t>Pedidos de productos no disponibles</a:t>
                      </a:r>
                    </a:p>
                  </a:txBody>
                  <a:tcPr marL="76200" marR="76200" marT="25400" marB="25400" anchor="ctr">
                    <a:solidFill>
                      <a:srgbClr val="F3F6F4"/>
                    </a:solidFill>
                  </a:tcPr>
                </a:tc>
                <a:extLst>
                  <a:ext uri="{0D108BD9-81ED-4DB2-BD59-A6C34878D82A}">
                    <a16:rowId xmlns:a16="http://schemas.microsoft.com/office/drawing/2014/main" val="10003"/>
                  </a:ext>
                </a:extLst>
              </a:tr>
              <a:tr h="548640">
                <a:tc>
                  <a:txBody>
                    <a:bodyPr/>
                    <a:lstStyle/>
                    <a:p>
                      <a:pPr>
                        <a:defRPr sz="1200">
                          <a:solidFill>
                            <a:srgbClr val="16232B"/>
                          </a:solidFill>
                          <a:latin typeface="Calibri"/>
                        </a:defRPr>
                      </a:pPr>
                      <a:r>
                        <a:t>4</a:t>
                      </a:r>
                    </a:p>
                  </a:txBody>
                  <a:tcPr marL="76200" marR="76200" marT="25400" marB="25400" anchor="ctr">
                    <a:solidFill>
                      <a:srgbClr val="FFFFFF"/>
                    </a:solidFill>
                  </a:tcPr>
                </a:tc>
                <a:tc>
                  <a:txBody>
                    <a:bodyPr/>
                    <a:lstStyle/>
                    <a:p>
                      <a:pPr>
                        <a:defRPr sz="1200">
                          <a:solidFill>
                            <a:srgbClr val="16232B"/>
                          </a:solidFill>
                          <a:latin typeface="Calibri"/>
                        </a:defRPr>
                      </a:pPr>
                      <a:r>
                        <a:t>Baja automatización del cierre del servicio</a:t>
                      </a:r>
                    </a:p>
                  </a:txBody>
                  <a:tcPr marL="76200" marR="76200" marT="25400" marB="25400" anchor="ctr">
                    <a:solidFill>
                      <a:srgbClr val="FFFFFF"/>
                    </a:solidFill>
                  </a:tcPr>
                </a:tc>
                <a:tc>
                  <a:txBody>
                    <a:bodyPr/>
                    <a:lstStyle/>
                    <a:p>
                      <a:pPr>
                        <a:defRPr sz="1200">
                          <a:solidFill>
                            <a:srgbClr val="16232B"/>
                          </a:solidFill>
                          <a:latin typeface="Calibri"/>
                        </a:defRPr>
                      </a:pPr>
                      <a:r>
                        <a:t>Procesos</a:t>
                      </a:r>
                    </a:p>
                  </a:txBody>
                  <a:tcPr marL="76200" marR="76200" marT="25400" marB="25400" anchor="ctr">
                    <a:solidFill>
                      <a:srgbClr val="FFFFFF"/>
                    </a:solidFill>
                  </a:tcPr>
                </a:tc>
                <a:tc>
                  <a:txBody>
                    <a:bodyPr/>
                    <a:lstStyle/>
                    <a:p>
                      <a:pPr>
                        <a:defRPr sz="1200">
                          <a:solidFill>
                            <a:srgbClr val="16232B"/>
                          </a:solidFill>
                          <a:latin typeface="Calibri"/>
                        </a:defRPr>
                      </a:pPr>
                      <a:r>
                        <a:t>Mayor carga operativa</a:t>
                      </a:r>
                    </a:p>
                  </a:txBody>
                  <a:tcPr marL="76200" marR="76200" marT="25400" marB="25400" anchor="ctr">
                    <a:solidFill>
                      <a:srgbClr val="FFFFFF"/>
                    </a:solidFill>
                  </a:tcPr>
                </a:tc>
                <a:extLst>
                  <a:ext uri="{0D108BD9-81ED-4DB2-BD59-A6C34878D82A}">
                    <a16:rowId xmlns:a16="http://schemas.microsoft.com/office/drawing/2014/main" val="10004"/>
                  </a:ext>
                </a:extLst>
              </a:tr>
              <a:tr h="548640">
                <a:tc>
                  <a:txBody>
                    <a:bodyPr/>
                    <a:lstStyle/>
                    <a:p>
                      <a:pPr>
                        <a:defRPr sz="1200">
                          <a:solidFill>
                            <a:srgbClr val="16232B"/>
                          </a:solidFill>
                          <a:latin typeface="Calibri"/>
                        </a:defRPr>
                      </a:pPr>
                      <a:r>
                        <a:t>5</a:t>
                      </a:r>
                    </a:p>
                  </a:txBody>
                  <a:tcPr marL="76200" marR="76200" marT="25400" marB="25400" anchor="ctr">
                    <a:solidFill>
                      <a:srgbClr val="F3F6F4"/>
                    </a:solidFill>
                  </a:tcPr>
                </a:tc>
                <a:tc>
                  <a:txBody>
                    <a:bodyPr/>
                    <a:lstStyle/>
                    <a:p>
                      <a:pPr>
                        <a:defRPr sz="1200">
                          <a:solidFill>
                            <a:srgbClr val="16232B"/>
                          </a:solidFill>
                          <a:latin typeface="Calibri"/>
                        </a:defRPr>
                      </a:pPr>
                      <a:r>
                        <a:t>Dependencia total de conectividad a internet</a:t>
                      </a:r>
                    </a:p>
                  </a:txBody>
                  <a:tcPr marL="76200" marR="76200" marT="25400" marB="25400" anchor="ctr">
                    <a:solidFill>
                      <a:srgbClr val="F3F6F4"/>
                    </a:solidFill>
                  </a:tcPr>
                </a:tc>
                <a:tc>
                  <a:txBody>
                    <a:bodyPr/>
                    <a:lstStyle/>
                    <a:p>
                      <a:pPr>
                        <a:defRPr sz="1200">
                          <a:solidFill>
                            <a:srgbClr val="16232B"/>
                          </a:solidFill>
                          <a:latin typeface="Calibri"/>
                        </a:defRPr>
                      </a:pPr>
                      <a:r>
                        <a:t>Tecnología</a:t>
                      </a:r>
                    </a:p>
                  </a:txBody>
                  <a:tcPr marL="76200" marR="76200" marT="25400" marB="25400" anchor="ctr">
                    <a:solidFill>
                      <a:srgbClr val="F3F6F4"/>
                    </a:solidFill>
                  </a:tcPr>
                </a:tc>
                <a:tc>
                  <a:txBody>
                    <a:bodyPr/>
                    <a:lstStyle/>
                    <a:p>
                      <a:pPr>
                        <a:defRPr sz="1200">
                          <a:solidFill>
                            <a:srgbClr val="16232B"/>
                          </a:solidFill>
                          <a:latin typeface="Calibri"/>
                        </a:defRPr>
                      </a:pPr>
                      <a:r>
                        <a:t>Vulnerabilidad operativa ante interrupciones</a:t>
                      </a:r>
                    </a:p>
                  </a:txBody>
                  <a:tcPr marL="76200" marR="76200" marT="25400" marB="25400" anchor="ctr">
                    <a:solidFill>
                      <a:srgbClr val="F3F6F4"/>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0" y="6528816"/>
            <a:ext cx="12191695" cy="18288"/>
          </a:xfrm>
          <a:prstGeom prst="rect">
            <a:avLst/>
          </a:prstGeom>
          <a:solidFill>
            <a:srgbClr val="C9D2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83680"/>
            <a:ext cx="7315200" cy="274320"/>
          </a:xfrm>
          <a:prstGeom prst="rect">
            <a:avLst/>
          </a:prstGeom>
          <a:noFill/>
        </p:spPr>
        <p:txBody>
          <a:bodyPr wrap="square" lIns="0" tIns="0" rIns="0" bIns="0" anchor="t">
            <a:spAutoFit/>
          </a:bodyPr>
          <a:lstStyle/>
          <a:p>
            <a:pPr algn="l">
              <a:lnSpc>
                <a:spcPct val="100000"/>
              </a:lnSpc>
            </a:pPr>
            <a:r>
              <a:rPr sz="900" b="0" i="0">
                <a:solidFill>
                  <a:srgbClr val="57666C"/>
                </a:solidFill>
                <a:latin typeface="Calibri"/>
              </a:rPr>
              <a:t>FoodVoice · AINC422 · Semana 4</a:t>
            </a:r>
          </a:p>
        </p:txBody>
      </p:sp>
      <p:sp>
        <p:nvSpPr>
          <p:cNvPr id="9" name="TextBox 8"/>
          <p:cNvSpPr txBox="1"/>
          <p:nvPr/>
        </p:nvSpPr>
        <p:spPr>
          <a:xfrm>
            <a:off x="11094415" y="6583680"/>
            <a:ext cx="640080" cy="274320"/>
          </a:xfrm>
          <a:prstGeom prst="rect">
            <a:avLst/>
          </a:prstGeom>
          <a:noFill/>
        </p:spPr>
        <p:txBody>
          <a:bodyPr wrap="square" lIns="0" tIns="0" rIns="0" bIns="0" anchor="t">
            <a:spAutoFit/>
          </a:bodyPr>
          <a:lstStyle/>
          <a:p>
            <a:pPr algn="r">
              <a:lnSpc>
                <a:spcPct val="100000"/>
              </a:lnSpc>
            </a:pPr>
            <a:r>
              <a:rPr sz="900" b="0" i="0">
                <a:solidFill>
                  <a:srgbClr val="57666C"/>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6F4"/>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lgn="l">
              <a:lnSpc>
                <a:spcPct val="100000"/>
              </a:lnSpc>
            </a:pPr>
            <a:r>
              <a:rPr sz="1200" b="1" i="0">
                <a:solidFill>
                  <a:srgbClr val="D9821F"/>
                </a:solidFill>
                <a:latin typeface="Calibri"/>
              </a:rPr>
              <a:t>SOLUCIÓN Y PROCESO</a:t>
            </a:r>
          </a:p>
        </p:txBody>
      </p:sp>
      <p:sp>
        <p:nvSpPr>
          <p:cNvPr id="3" name="TextBox 2"/>
          <p:cNvSpPr txBox="1"/>
          <p:nvPr/>
        </p:nvSpPr>
        <p:spPr>
          <a:xfrm>
            <a:off x="548640" y="704088"/>
            <a:ext cx="11064240" cy="640080"/>
          </a:xfrm>
          <a:prstGeom prst="rect">
            <a:avLst/>
          </a:prstGeom>
          <a:noFill/>
        </p:spPr>
        <p:txBody>
          <a:bodyPr wrap="square" lIns="0" tIns="0" rIns="0" bIns="0" anchor="t">
            <a:spAutoFit/>
          </a:bodyPr>
          <a:lstStyle/>
          <a:p>
            <a:pPr algn="l">
              <a:lnSpc>
                <a:spcPct val="100000"/>
              </a:lnSpc>
            </a:pPr>
            <a:r>
              <a:rPr sz="2800" b="1" i="0">
                <a:solidFill>
                  <a:srgbClr val="16232B"/>
                </a:solidFill>
                <a:latin typeface="Calibri"/>
              </a:rPr>
              <a:t>Solución propuesta</a:t>
            </a:r>
          </a:p>
        </p:txBody>
      </p:sp>
      <p:sp>
        <p:nvSpPr>
          <p:cNvPr id="4" name="Rectangle 3"/>
          <p:cNvSpPr/>
          <p:nvPr/>
        </p:nvSpPr>
        <p:spPr>
          <a:xfrm>
            <a:off x="548640" y="1271016"/>
            <a:ext cx="2743200" cy="27432"/>
          </a:xfrm>
          <a:prstGeom prst="rect">
            <a:avLst/>
          </a:prstGeom>
          <a:solidFill>
            <a:srgbClr val="D9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99616"/>
            <a:ext cx="10789920" cy="1280160"/>
          </a:xfrm>
          <a:prstGeom prst="rect">
            <a:avLst/>
          </a:prstGeom>
          <a:noFill/>
        </p:spPr>
        <p:txBody>
          <a:bodyPr wrap="square" lIns="0" tIns="0">
            <a:spAutoFit/>
          </a:bodyPr>
          <a:lstStyle/>
          <a:p>
            <a:pPr>
              <a:lnSpc>
                <a:spcPct val="112000"/>
              </a:lnSpc>
              <a:spcAft>
                <a:spcPts val="1000"/>
              </a:spcAft>
            </a:pPr>
            <a:r>
              <a:rPr sz="1600" b="1">
                <a:solidFill>
                  <a:srgbClr val="D9821F"/>
                </a:solidFill>
                <a:latin typeface="Calibri"/>
              </a:rPr>
              <a:t>—  </a:t>
            </a:r>
            <a:r>
              <a:rPr sz="1600">
                <a:solidFill>
                  <a:srgbClr val="16232B"/>
                </a:solidFill>
                <a:latin typeface="Calibri"/>
              </a:rPr>
              <a:t>Plataforma web (cliente, local comercial, administrador) + app móvil (repartidor).</a:t>
            </a:r>
          </a:p>
          <a:p>
            <a:pPr>
              <a:lnSpc>
                <a:spcPct val="112000"/>
              </a:lnSpc>
              <a:spcAft>
                <a:spcPts val="1000"/>
              </a:spcAft>
            </a:pPr>
            <a:r>
              <a:rPr sz="1600" b="1">
                <a:solidFill>
                  <a:srgbClr val="D9821F"/>
                </a:solidFill>
                <a:latin typeface="Calibri"/>
              </a:rPr>
              <a:t>—  </a:t>
            </a:r>
            <a:r>
              <a:rPr sz="1600">
                <a:solidFill>
                  <a:srgbClr val="16232B"/>
                </a:solidFill>
                <a:latin typeface="Calibri"/>
              </a:rPr>
              <a:t>Geolocalización real, búsqueda por voz, estados digitales y trazabilidad de extremo a extremo.</a:t>
            </a:r>
          </a:p>
        </p:txBody>
      </p:sp>
      <p:sp>
        <p:nvSpPr>
          <p:cNvPr id="6" name="Rectangle 5"/>
          <p:cNvSpPr/>
          <p:nvPr/>
        </p:nvSpPr>
        <p:spPr>
          <a:xfrm>
            <a:off x="822960" y="3977639"/>
            <a:ext cx="2926080" cy="1051560"/>
          </a:xfrm>
          <a:prstGeom prst="rect">
            <a:avLst/>
          </a:prstGeom>
          <a:solidFill>
            <a:srgbClr val="FFFFFF"/>
          </a:solidFill>
          <a:ln w="9525">
            <a:solidFill>
              <a:srgbClr val="C9D2C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6232B"/>
                </a:solidFill>
                <a:latin typeface="Calibri"/>
              </a:rPr>
              <a:t>Actores</a:t>
            </a:r>
          </a:p>
          <a:p>
            <a:pPr algn="ctr"/>
            <a:r>
              <a:rPr sz="1100" b="0">
                <a:solidFill>
                  <a:srgbClr val="16232B"/>
                </a:solidFill>
                <a:latin typeface="Calibri"/>
              </a:rPr>
              <a:t>Cliente · Local · Repartidor · Admin</a:t>
            </a:r>
          </a:p>
        </p:txBody>
      </p:sp>
      <p:sp>
        <p:nvSpPr>
          <p:cNvPr id="7" name="Rectangle 6"/>
          <p:cNvSpPr/>
          <p:nvPr/>
        </p:nvSpPr>
        <p:spPr>
          <a:xfrm>
            <a:off x="4617720" y="3977639"/>
            <a:ext cx="3017520" cy="1051560"/>
          </a:xfrm>
          <a:prstGeom prst="rect">
            <a:avLst/>
          </a:prstGeom>
          <a:solidFill>
            <a:srgbClr val="FBEBD6"/>
          </a:solidFill>
          <a:ln w="9525">
            <a:solidFill>
              <a:srgbClr val="D9821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6232B"/>
                </a:solidFill>
                <a:latin typeface="Calibri"/>
              </a:rPr>
              <a:t>FoodVoice</a:t>
            </a:r>
          </a:p>
          <a:p>
            <a:pPr algn="ctr"/>
            <a:r>
              <a:rPr sz="1100" b="0">
                <a:solidFill>
                  <a:srgbClr val="16232B"/>
                </a:solidFill>
                <a:latin typeface="Calibri"/>
              </a:rPr>
              <a:t>Web + Móvil (MPV)</a:t>
            </a:r>
          </a:p>
        </p:txBody>
      </p:sp>
      <p:sp>
        <p:nvSpPr>
          <p:cNvPr id="8" name="Rectangle 7"/>
          <p:cNvSpPr/>
          <p:nvPr/>
        </p:nvSpPr>
        <p:spPr>
          <a:xfrm>
            <a:off x="8503920" y="3977639"/>
            <a:ext cx="2880360" cy="1051560"/>
          </a:xfrm>
          <a:prstGeom prst="rect">
            <a:avLst/>
          </a:prstGeom>
          <a:solidFill>
            <a:srgbClr val="FFFFFF"/>
          </a:solidFill>
          <a:ln w="9525">
            <a:solidFill>
              <a:srgbClr val="C9D2C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57666C"/>
                </a:solidFill>
                <a:latin typeface="Calibri"/>
              </a:rPr>
              <a:t>Backend + BD</a:t>
            </a:r>
          </a:p>
          <a:p>
            <a:pPr algn="ctr"/>
            <a:r>
              <a:rPr sz="1100" b="0">
                <a:solidFill>
                  <a:srgbClr val="57666C"/>
                </a:solidFill>
                <a:latin typeface="Calibri"/>
              </a:rPr>
              <a:t>(fase posterior)</a:t>
            </a:r>
          </a:p>
        </p:txBody>
      </p:sp>
      <p:cxnSp>
        <p:nvCxnSpPr>
          <p:cNvPr id="9" name="Connector 8"/>
          <p:cNvCxnSpPr/>
          <p:nvPr/>
        </p:nvCxnSpPr>
        <p:spPr>
          <a:xfrm>
            <a:off x="3749039" y="4503419"/>
            <a:ext cx="868681" cy="0"/>
          </a:xfrm>
          <a:prstGeom prst="line">
            <a:avLst/>
          </a:prstGeom>
          <a:ln w="19050">
            <a:solidFill>
              <a:srgbClr val="57666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635240" y="4503419"/>
            <a:ext cx="868680" cy="0"/>
          </a:xfrm>
          <a:prstGeom prst="line">
            <a:avLst/>
          </a:prstGeom>
          <a:ln w="19050">
            <a:solidFill>
              <a:srgbClr val="57666C"/>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0" y="6528816"/>
            <a:ext cx="12191695" cy="18288"/>
          </a:xfrm>
          <a:prstGeom prst="rect">
            <a:avLst/>
          </a:prstGeom>
          <a:solidFill>
            <a:srgbClr val="C9D2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6583680"/>
            <a:ext cx="7315200" cy="274320"/>
          </a:xfrm>
          <a:prstGeom prst="rect">
            <a:avLst/>
          </a:prstGeom>
          <a:noFill/>
        </p:spPr>
        <p:txBody>
          <a:bodyPr wrap="square" lIns="0" tIns="0" rIns="0" bIns="0" anchor="t">
            <a:spAutoFit/>
          </a:bodyPr>
          <a:lstStyle/>
          <a:p>
            <a:pPr algn="l">
              <a:lnSpc>
                <a:spcPct val="100000"/>
              </a:lnSpc>
            </a:pPr>
            <a:r>
              <a:rPr sz="900" b="0" i="0">
                <a:solidFill>
                  <a:srgbClr val="57666C"/>
                </a:solidFill>
                <a:latin typeface="Calibri"/>
              </a:rPr>
              <a:t>FoodVoice · AINC422 · Semana 4</a:t>
            </a:r>
          </a:p>
        </p:txBody>
      </p:sp>
      <p:sp>
        <p:nvSpPr>
          <p:cNvPr id="13" name="TextBox 12"/>
          <p:cNvSpPr txBox="1"/>
          <p:nvPr/>
        </p:nvSpPr>
        <p:spPr>
          <a:xfrm>
            <a:off x="11094415" y="6583680"/>
            <a:ext cx="640080" cy="274320"/>
          </a:xfrm>
          <a:prstGeom prst="rect">
            <a:avLst/>
          </a:prstGeom>
          <a:noFill/>
        </p:spPr>
        <p:txBody>
          <a:bodyPr wrap="square" lIns="0" tIns="0" rIns="0" bIns="0" anchor="t">
            <a:spAutoFit/>
          </a:bodyPr>
          <a:lstStyle/>
          <a:p>
            <a:pPr algn="r">
              <a:lnSpc>
                <a:spcPct val="100000"/>
              </a:lnSpc>
            </a:pPr>
            <a:r>
              <a:rPr sz="900" b="0" i="0">
                <a:solidFill>
                  <a:srgbClr val="57666C"/>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6F4"/>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lgn="l">
              <a:lnSpc>
                <a:spcPct val="100000"/>
              </a:lnSpc>
            </a:pPr>
            <a:r>
              <a:rPr sz="1200" b="1" i="0">
                <a:solidFill>
                  <a:srgbClr val="D9821F"/>
                </a:solidFill>
                <a:latin typeface="Calibri"/>
              </a:rPr>
              <a:t>SOLUCIÓN Y PROCESO</a:t>
            </a:r>
          </a:p>
        </p:txBody>
      </p:sp>
      <p:sp>
        <p:nvSpPr>
          <p:cNvPr id="3" name="TextBox 2"/>
          <p:cNvSpPr txBox="1"/>
          <p:nvPr/>
        </p:nvSpPr>
        <p:spPr>
          <a:xfrm>
            <a:off x="548640" y="704088"/>
            <a:ext cx="11064240" cy="640080"/>
          </a:xfrm>
          <a:prstGeom prst="rect">
            <a:avLst/>
          </a:prstGeom>
          <a:noFill/>
        </p:spPr>
        <p:txBody>
          <a:bodyPr wrap="square" lIns="0" tIns="0" rIns="0" bIns="0" anchor="t">
            <a:spAutoFit/>
          </a:bodyPr>
          <a:lstStyle/>
          <a:p>
            <a:pPr algn="l">
              <a:lnSpc>
                <a:spcPct val="100000"/>
              </a:lnSpc>
            </a:pPr>
            <a:r>
              <a:rPr sz="2800" b="1" i="0">
                <a:solidFill>
                  <a:srgbClr val="16232B"/>
                </a:solidFill>
                <a:latin typeface="Calibri"/>
              </a:rPr>
              <a:t>Proceso abordado para el MPV</a:t>
            </a:r>
          </a:p>
        </p:txBody>
      </p:sp>
      <p:sp>
        <p:nvSpPr>
          <p:cNvPr id="4" name="Rectangle 3"/>
          <p:cNvSpPr/>
          <p:nvPr/>
        </p:nvSpPr>
        <p:spPr>
          <a:xfrm>
            <a:off x="548640" y="1271016"/>
            <a:ext cx="2743200" cy="27432"/>
          </a:xfrm>
          <a:prstGeom prst="rect">
            <a:avLst/>
          </a:prstGeom>
          <a:solidFill>
            <a:srgbClr val="D9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82496"/>
            <a:ext cx="10789920" cy="3657600"/>
          </a:xfrm>
          <a:prstGeom prst="rect">
            <a:avLst/>
          </a:prstGeom>
          <a:noFill/>
        </p:spPr>
        <p:txBody>
          <a:bodyPr wrap="square" lIns="0" tIns="0">
            <a:spAutoFit/>
          </a:bodyPr>
          <a:lstStyle/>
          <a:p>
            <a:pPr>
              <a:lnSpc>
                <a:spcPct val="112000"/>
              </a:lnSpc>
              <a:spcAft>
                <a:spcPts val="1000"/>
              </a:spcAft>
            </a:pPr>
            <a:r>
              <a:rPr sz="1700" b="1">
                <a:solidFill>
                  <a:srgbClr val="D9821F"/>
                </a:solidFill>
                <a:latin typeface="Calibri"/>
              </a:rPr>
              <a:t>—  </a:t>
            </a:r>
            <a:r>
              <a:rPr sz="1700">
                <a:solidFill>
                  <a:srgbClr val="16232B"/>
                </a:solidFill>
                <a:latin typeface="Calibri"/>
              </a:rPr>
              <a:t>Marco de trabajo: Scrum, tanto para la gestión del proyecto como para el desarrollo del producto.</a:t>
            </a:r>
          </a:p>
          <a:p>
            <a:pPr>
              <a:lnSpc>
                <a:spcPct val="112000"/>
              </a:lnSpc>
              <a:spcAft>
                <a:spcPts val="1000"/>
              </a:spcAft>
            </a:pPr>
            <a:r>
              <a:rPr sz="1700" b="1">
                <a:solidFill>
                  <a:srgbClr val="D9821F"/>
                </a:solidFill>
                <a:latin typeface="Calibri"/>
              </a:rPr>
              <a:t>—  </a:t>
            </a:r>
            <a:r>
              <a:rPr sz="1700">
                <a:solidFill>
                  <a:srgbClr val="16232B"/>
                </a:solidFill>
                <a:latin typeface="Calibri"/>
              </a:rPr>
              <a:t>Roles Scrum (Product Owner, Scrum Master, Equipo de Desarrollo) asumidos individualmente.</a:t>
            </a:r>
          </a:p>
          <a:p>
            <a:pPr>
              <a:lnSpc>
                <a:spcPct val="112000"/>
              </a:lnSpc>
              <a:spcAft>
                <a:spcPts val="1000"/>
              </a:spcAft>
            </a:pPr>
            <a:r>
              <a:rPr sz="1700" b="1">
                <a:solidFill>
                  <a:srgbClr val="D9821F"/>
                </a:solidFill>
                <a:latin typeface="Calibri"/>
              </a:rPr>
              <a:t>—  </a:t>
            </a:r>
            <a:r>
              <a:rPr sz="1700">
                <a:solidFill>
                  <a:srgbClr val="16232B"/>
                </a:solidFill>
                <a:latin typeface="Calibri"/>
              </a:rPr>
              <a:t>Sprint Review = hitos institucionales (S4, S8, S12); este avance corresponde a la fundamentación técnica y al primer incremento funcional del producto.</a:t>
            </a:r>
          </a:p>
        </p:txBody>
      </p:sp>
      <p:sp>
        <p:nvSpPr>
          <p:cNvPr id="6" name="Rectangle 5"/>
          <p:cNvSpPr/>
          <p:nvPr/>
        </p:nvSpPr>
        <p:spPr>
          <a:xfrm>
            <a:off x="0" y="6528816"/>
            <a:ext cx="12191695" cy="18288"/>
          </a:xfrm>
          <a:prstGeom prst="rect">
            <a:avLst/>
          </a:prstGeom>
          <a:solidFill>
            <a:srgbClr val="C9D2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7315200" cy="274320"/>
          </a:xfrm>
          <a:prstGeom prst="rect">
            <a:avLst/>
          </a:prstGeom>
          <a:noFill/>
        </p:spPr>
        <p:txBody>
          <a:bodyPr wrap="square" lIns="0" tIns="0" rIns="0" bIns="0" anchor="t">
            <a:spAutoFit/>
          </a:bodyPr>
          <a:lstStyle/>
          <a:p>
            <a:pPr algn="l">
              <a:lnSpc>
                <a:spcPct val="100000"/>
              </a:lnSpc>
            </a:pPr>
            <a:r>
              <a:rPr sz="900" b="0" i="0">
                <a:solidFill>
                  <a:srgbClr val="57666C"/>
                </a:solidFill>
                <a:latin typeface="Calibri"/>
              </a:rPr>
              <a:t>FoodVoice · AINC422 · Semana 4</a:t>
            </a:r>
          </a:p>
        </p:txBody>
      </p:sp>
      <p:sp>
        <p:nvSpPr>
          <p:cNvPr id="8" name="TextBox 7"/>
          <p:cNvSpPr txBox="1"/>
          <p:nvPr/>
        </p:nvSpPr>
        <p:spPr>
          <a:xfrm>
            <a:off x="11094415" y="6583680"/>
            <a:ext cx="640080" cy="274320"/>
          </a:xfrm>
          <a:prstGeom prst="rect">
            <a:avLst/>
          </a:prstGeom>
          <a:noFill/>
        </p:spPr>
        <p:txBody>
          <a:bodyPr wrap="square" lIns="0" tIns="0" rIns="0" bIns="0" anchor="t">
            <a:spAutoFit/>
          </a:bodyPr>
          <a:lstStyle/>
          <a:p>
            <a:pPr algn="r">
              <a:lnSpc>
                <a:spcPct val="100000"/>
              </a:lnSpc>
            </a:pPr>
            <a:r>
              <a:rPr sz="900" b="0" i="0">
                <a:solidFill>
                  <a:srgbClr val="57666C"/>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6F4"/>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lgn="l">
              <a:lnSpc>
                <a:spcPct val="100000"/>
              </a:lnSpc>
            </a:pPr>
            <a:r>
              <a:rPr sz="1200" b="1" i="0">
                <a:solidFill>
                  <a:srgbClr val="D9821F"/>
                </a:solidFill>
                <a:latin typeface="Calibri"/>
              </a:rPr>
              <a:t>REQUERIMIENTOS Y ALCANCE</a:t>
            </a:r>
          </a:p>
        </p:txBody>
      </p:sp>
      <p:sp>
        <p:nvSpPr>
          <p:cNvPr id="3" name="TextBox 2"/>
          <p:cNvSpPr txBox="1"/>
          <p:nvPr/>
        </p:nvSpPr>
        <p:spPr>
          <a:xfrm>
            <a:off x="548640" y="704088"/>
            <a:ext cx="11064240" cy="640080"/>
          </a:xfrm>
          <a:prstGeom prst="rect">
            <a:avLst/>
          </a:prstGeom>
          <a:noFill/>
        </p:spPr>
        <p:txBody>
          <a:bodyPr wrap="square" lIns="0" tIns="0" rIns="0" bIns="0" anchor="t">
            <a:spAutoFit/>
          </a:bodyPr>
          <a:lstStyle/>
          <a:p>
            <a:pPr algn="l">
              <a:lnSpc>
                <a:spcPct val="100000"/>
              </a:lnSpc>
            </a:pPr>
            <a:r>
              <a:rPr sz="2800" b="1" i="0">
                <a:solidFill>
                  <a:srgbClr val="16232B"/>
                </a:solidFill>
                <a:latin typeface="Calibri"/>
              </a:rPr>
              <a:t>Requerimientos — Historias de Usuario</a:t>
            </a:r>
          </a:p>
        </p:txBody>
      </p:sp>
      <p:sp>
        <p:nvSpPr>
          <p:cNvPr id="4" name="Rectangle 3"/>
          <p:cNvSpPr/>
          <p:nvPr/>
        </p:nvSpPr>
        <p:spPr>
          <a:xfrm>
            <a:off x="548640" y="1271016"/>
            <a:ext cx="2743200" cy="27432"/>
          </a:xfrm>
          <a:prstGeom prst="rect">
            <a:avLst/>
          </a:prstGeom>
          <a:solidFill>
            <a:srgbClr val="D9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48640" y="1591056"/>
          <a:ext cx="11064237" cy="4023360"/>
        </p:xfrm>
        <a:graphic>
          <a:graphicData uri="http://schemas.openxmlformats.org/drawingml/2006/table">
            <a:tbl>
              <a:tblPr firstRow="1" bandRow="1">
                <a:tableStyleId>{5C22544A-7EE6-4342-B048-85BDC9FD1C3A}</a:tableStyleId>
              </a:tblPr>
              <a:tblGrid>
                <a:gridCol w="1301675">
                  <a:extLst>
                    <a:ext uri="{9D8B030D-6E8A-4147-A177-3AD203B41FA5}">
                      <a16:colId xmlns:a16="http://schemas.microsoft.com/office/drawing/2014/main" val="20000"/>
                    </a:ext>
                  </a:extLst>
                </a:gridCol>
                <a:gridCol w="5857538">
                  <a:extLst>
                    <a:ext uri="{9D8B030D-6E8A-4147-A177-3AD203B41FA5}">
                      <a16:colId xmlns:a16="http://schemas.microsoft.com/office/drawing/2014/main" val="20001"/>
                    </a:ext>
                  </a:extLst>
                </a:gridCol>
                <a:gridCol w="1952512">
                  <a:extLst>
                    <a:ext uri="{9D8B030D-6E8A-4147-A177-3AD203B41FA5}">
                      <a16:colId xmlns:a16="http://schemas.microsoft.com/office/drawing/2014/main" val="20002"/>
                    </a:ext>
                  </a:extLst>
                </a:gridCol>
                <a:gridCol w="1952512">
                  <a:extLst>
                    <a:ext uri="{9D8B030D-6E8A-4147-A177-3AD203B41FA5}">
                      <a16:colId xmlns:a16="http://schemas.microsoft.com/office/drawing/2014/main" val="20003"/>
                    </a:ext>
                  </a:extLst>
                </a:gridCol>
              </a:tblGrid>
              <a:tr h="502920">
                <a:tc>
                  <a:txBody>
                    <a:bodyPr/>
                    <a:lstStyle/>
                    <a:p>
                      <a:pPr>
                        <a:defRPr sz="1300" b="1">
                          <a:solidFill>
                            <a:srgbClr val="FFFFFF"/>
                          </a:solidFill>
                          <a:latin typeface="Calibri"/>
                        </a:defRPr>
                      </a:pPr>
                      <a:r>
                        <a:t>ID</a:t>
                      </a:r>
                    </a:p>
                  </a:txBody>
                  <a:tcPr marL="76200" marR="76200" marT="38100" marB="38100" anchor="ctr">
                    <a:solidFill>
                      <a:srgbClr val="16232B"/>
                    </a:solidFill>
                  </a:tcPr>
                </a:tc>
                <a:tc>
                  <a:txBody>
                    <a:bodyPr/>
                    <a:lstStyle/>
                    <a:p>
                      <a:pPr>
                        <a:defRPr sz="1300" b="1">
                          <a:solidFill>
                            <a:srgbClr val="FFFFFF"/>
                          </a:solidFill>
                          <a:latin typeface="Calibri"/>
                        </a:defRPr>
                      </a:pPr>
                      <a:r>
                        <a:t>Historia de usuario</a:t>
                      </a:r>
                    </a:p>
                  </a:txBody>
                  <a:tcPr marL="76200" marR="76200" marT="38100" marB="38100" anchor="ctr">
                    <a:solidFill>
                      <a:srgbClr val="16232B"/>
                    </a:solidFill>
                  </a:tcPr>
                </a:tc>
                <a:tc>
                  <a:txBody>
                    <a:bodyPr/>
                    <a:lstStyle/>
                    <a:p>
                      <a:pPr>
                        <a:defRPr sz="1300" b="1">
                          <a:solidFill>
                            <a:srgbClr val="FFFFFF"/>
                          </a:solidFill>
                          <a:latin typeface="Calibri"/>
                        </a:defRPr>
                      </a:pPr>
                      <a:r>
                        <a:t>Prioridad</a:t>
                      </a:r>
                    </a:p>
                  </a:txBody>
                  <a:tcPr marL="76200" marR="76200" marT="38100" marB="38100" anchor="ctr">
                    <a:solidFill>
                      <a:srgbClr val="16232B"/>
                    </a:solidFill>
                  </a:tcPr>
                </a:tc>
                <a:tc>
                  <a:txBody>
                    <a:bodyPr/>
                    <a:lstStyle/>
                    <a:p>
                      <a:pPr>
                        <a:defRPr sz="1300" b="1">
                          <a:solidFill>
                            <a:srgbClr val="FFFFFF"/>
                          </a:solidFill>
                          <a:latin typeface="Calibri"/>
                        </a:defRPr>
                      </a:pPr>
                      <a:r>
                        <a:t>En el MPV</a:t>
                      </a:r>
                    </a:p>
                  </a:txBody>
                  <a:tcPr marL="76200" marR="76200" marT="38100" marB="38100" anchor="ctr">
                    <a:solidFill>
                      <a:srgbClr val="16232B"/>
                    </a:solidFill>
                  </a:tcPr>
                </a:tc>
                <a:extLst>
                  <a:ext uri="{0D108BD9-81ED-4DB2-BD59-A6C34878D82A}">
                    <a16:rowId xmlns:a16="http://schemas.microsoft.com/office/drawing/2014/main" val="10000"/>
                  </a:ext>
                </a:extLst>
              </a:tr>
              <a:tr h="502920">
                <a:tc>
                  <a:txBody>
                    <a:bodyPr/>
                    <a:lstStyle/>
                    <a:p>
                      <a:pPr>
                        <a:defRPr sz="1300">
                          <a:solidFill>
                            <a:srgbClr val="16232B"/>
                          </a:solidFill>
                          <a:latin typeface="Calibri"/>
                        </a:defRPr>
                      </a:pPr>
                      <a:r>
                        <a:t>HU-01</a:t>
                      </a:r>
                    </a:p>
                  </a:txBody>
                  <a:tcPr marL="76200" marR="76200" marT="25400" marB="25400" anchor="ctr">
                    <a:solidFill>
                      <a:srgbClr val="F3F6F4"/>
                    </a:solidFill>
                  </a:tcPr>
                </a:tc>
                <a:tc>
                  <a:txBody>
                    <a:bodyPr/>
                    <a:lstStyle/>
                    <a:p>
                      <a:pPr>
                        <a:defRPr sz="1300">
                          <a:solidFill>
                            <a:srgbClr val="16232B"/>
                          </a:solidFill>
                          <a:latin typeface="Calibri"/>
                        </a:defRPr>
                      </a:pPr>
                      <a:r>
                        <a:t>Gestión de pedidos con estado visible</a:t>
                      </a:r>
                    </a:p>
                  </a:txBody>
                  <a:tcPr marL="76200" marR="76200" marT="25400" marB="25400" anchor="ctr">
                    <a:solidFill>
                      <a:srgbClr val="F3F6F4"/>
                    </a:solidFill>
                  </a:tcPr>
                </a:tc>
                <a:tc>
                  <a:txBody>
                    <a:bodyPr/>
                    <a:lstStyle/>
                    <a:p>
                      <a:pPr>
                        <a:defRPr sz="1300">
                          <a:solidFill>
                            <a:srgbClr val="16232B"/>
                          </a:solidFill>
                          <a:latin typeface="Calibri"/>
                        </a:defRPr>
                      </a:pPr>
                      <a:r>
                        <a:t>Alta</a:t>
                      </a:r>
                    </a:p>
                  </a:txBody>
                  <a:tcPr marL="76200" marR="76200" marT="25400" marB="25400" anchor="ctr">
                    <a:solidFill>
                      <a:srgbClr val="F3F6F4"/>
                    </a:solidFill>
                  </a:tcPr>
                </a:tc>
                <a:tc>
                  <a:txBody>
                    <a:bodyPr/>
                    <a:lstStyle/>
                    <a:p>
                      <a:pPr>
                        <a:defRPr sz="1300">
                          <a:solidFill>
                            <a:srgbClr val="16232B"/>
                          </a:solidFill>
                          <a:latin typeface="Calibri"/>
                        </a:defRPr>
                      </a:pPr>
                      <a:r>
                        <a:t>Sí</a:t>
                      </a:r>
                    </a:p>
                  </a:txBody>
                  <a:tcPr marL="76200" marR="76200" marT="25400" marB="25400" anchor="ctr">
                    <a:solidFill>
                      <a:srgbClr val="F3F6F4"/>
                    </a:solidFill>
                  </a:tcPr>
                </a:tc>
                <a:extLst>
                  <a:ext uri="{0D108BD9-81ED-4DB2-BD59-A6C34878D82A}">
                    <a16:rowId xmlns:a16="http://schemas.microsoft.com/office/drawing/2014/main" val="10001"/>
                  </a:ext>
                </a:extLst>
              </a:tr>
              <a:tr h="502920">
                <a:tc>
                  <a:txBody>
                    <a:bodyPr/>
                    <a:lstStyle/>
                    <a:p>
                      <a:pPr>
                        <a:defRPr sz="1300">
                          <a:solidFill>
                            <a:srgbClr val="16232B"/>
                          </a:solidFill>
                          <a:latin typeface="Calibri"/>
                        </a:defRPr>
                      </a:pPr>
                      <a:r>
                        <a:t>HU-02</a:t>
                      </a:r>
                    </a:p>
                  </a:txBody>
                  <a:tcPr marL="76200" marR="76200" marT="25400" marB="25400" anchor="ctr">
                    <a:solidFill>
                      <a:srgbClr val="FFFFFF"/>
                    </a:solidFill>
                  </a:tcPr>
                </a:tc>
                <a:tc>
                  <a:txBody>
                    <a:bodyPr/>
                    <a:lstStyle/>
                    <a:p>
                      <a:pPr>
                        <a:defRPr sz="1300">
                          <a:solidFill>
                            <a:srgbClr val="16232B"/>
                          </a:solidFill>
                          <a:latin typeface="Calibri"/>
                        </a:defRPr>
                      </a:pPr>
                      <a:r>
                        <a:t>Administración de menú</a:t>
                      </a:r>
                    </a:p>
                  </a:txBody>
                  <a:tcPr marL="76200" marR="76200" marT="25400" marB="25400" anchor="ctr">
                    <a:solidFill>
                      <a:srgbClr val="FFFFFF"/>
                    </a:solidFill>
                  </a:tcPr>
                </a:tc>
                <a:tc>
                  <a:txBody>
                    <a:bodyPr/>
                    <a:lstStyle/>
                    <a:p>
                      <a:pPr>
                        <a:defRPr sz="1300">
                          <a:solidFill>
                            <a:srgbClr val="16232B"/>
                          </a:solidFill>
                          <a:latin typeface="Calibri"/>
                        </a:defRPr>
                      </a:pPr>
                      <a:r>
                        <a:t>Alta</a:t>
                      </a:r>
                    </a:p>
                  </a:txBody>
                  <a:tcPr marL="76200" marR="76200" marT="25400" marB="25400" anchor="ctr">
                    <a:solidFill>
                      <a:srgbClr val="FFFFFF"/>
                    </a:solidFill>
                  </a:tcPr>
                </a:tc>
                <a:tc>
                  <a:txBody>
                    <a:bodyPr/>
                    <a:lstStyle/>
                    <a:p>
                      <a:pPr>
                        <a:defRPr sz="1300">
                          <a:solidFill>
                            <a:srgbClr val="16232B"/>
                          </a:solidFill>
                          <a:latin typeface="Calibri"/>
                        </a:defRPr>
                      </a:pPr>
                      <a:r>
                        <a:t>Sí</a:t>
                      </a:r>
                    </a:p>
                  </a:txBody>
                  <a:tcPr marL="76200" marR="76200" marT="25400" marB="25400" anchor="ctr">
                    <a:solidFill>
                      <a:srgbClr val="FFFFFF"/>
                    </a:solidFill>
                  </a:tcPr>
                </a:tc>
                <a:extLst>
                  <a:ext uri="{0D108BD9-81ED-4DB2-BD59-A6C34878D82A}">
                    <a16:rowId xmlns:a16="http://schemas.microsoft.com/office/drawing/2014/main" val="10002"/>
                  </a:ext>
                </a:extLst>
              </a:tr>
              <a:tr h="502920">
                <a:tc>
                  <a:txBody>
                    <a:bodyPr/>
                    <a:lstStyle/>
                    <a:p>
                      <a:pPr>
                        <a:defRPr sz="1300">
                          <a:solidFill>
                            <a:srgbClr val="16232B"/>
                          </a:solidFill>
                          <a:latin typeface="Calibri"/>
                        </a:defRPr>
                      </a:pPr>
                      <a:r>
                        <a:t>HU-03</a:t>
                      </a:r>
                    </a:p>
                  </a:txBody>
                  <a:tcPr marL="76200" marR="76200" marT="25400" marB="25400" anchor="ctr">
                    <a:solidFill>
                      <a:srgbClr val="F3F6F4"/>
                    </a:solidFill>
                  </a:tcPr>
                </a:tc>
                <a:tc>
                  <a:txBody>
                    <a:bodyPr/>
                    <a:lstStyle/>
                    <a:p>
                      <a:pPr>
                        <a:defRPr sz="1300">
                          <a:solidFill>
                            <a:srgbClr val="16232B"/>
                          </a:solidFill>
                          <a:latin typeface="Calibri"/>
                        </a:defRPr>
                      </a:pPr>
                      <a:r>
                        <a:t>Trazabilidad del pedido</a:t>
                      </a:r>
                    </a:p>
                  </a:txBody>
                  <a:tcPr marL="76200" marR="76200" marT="25400" marB="25400" anchor="ctr">
                    <a:solidFill>
                      <a:srgbClr val="F3F6F4"/>
                    </a:solidFill>
                  </a:tcPr>
                </a:tc>
                <a:tc>
                  <a:txBody>
                    <a:bodyPr/>
                    <a:lstStyle/>
                    <a:p>
                      <a:pPr>
                        <a:defRPr sz="1300">
                          <a:solidFill>
                            <a:srgbClr val="16232B"/>
                          </a:solidFill>
                          <a:latin typeface="Calibri"/>
                        </a:defRPr>
                      </a:pPr>
                      <a:r>
                        <a:t>Alta</a:t>
                      </a:r>
                    </a:p>
                  </a:txBody>
                  <a:tcPr marL="76200" marR="76200" marT="25400" marB="25400" anchor="ctr">
                    <a:solidFill>
                      <a:srgbClr val="F3F6F4"/>
                    </a:solidFill>
                  </a:tcPr>
                </a:tc>
                <a:tc>
                  <a:txBody>
                    <a:bodyPr/>
                    <a:lstStyle/>
                    <a:p>
                      <a:pPr>
                        <a:defRPr sz="1300">
                          <a:solidFill>
                            <a:srgbClr val="16232B"/>
                          </a:solidFill>
                          <a:latin typeface="Calibri"/>
                        </a:defRPr>
                      </a:pPr>
                      <a:r>
                        <a:t>Sí</a:t>
                      </a:r>
                    </a:p>
                  </a:txBody>
                  <a:tcPr marL="76200" marR="76200" marT="25400" marB="25400" anchor="ctr">
                    <a:solidFill>
                      <a:srgbClr val="F3F6F4"/>
                    </a:solidFill>
                  </a:tcPr>
                </a:tc>
                <a:extLst>
                  <a:ext uri="{0D108BD9-81ED-4DB2-BD59-A6C34878D82A}">
                    <a16:rowId xmlns:a16="http://schemas.microsoft.com/office/drawing/2014/main" val="10003"/>
                  </a:ext>
                </a:extLst>
              </a:tr>
              <a:tr h="502920">
                <a:tc>
                  <a:txBody>
                    <a:bodyPr/>
                    <a:lstStyle/>
                    <a:p>
                      <a:pPr>
                        <a:defRPr sz="1300">
                          <a:solidFill>
                            <a:srgbClr val="16232B"/>
                          </a:solidFill>
                          <a:latin typeface="Calibri"/>
                        </a:defRPr>
                      </a:pPr>
                      <a:r>
                        <a:t>HU-04</a:t>
                      </a:r>
                    </a:p>
                  </a:txBody>
                  <a:tcPr marL="76200" marR="76200" marT="25400" marB="25400" anchor="ctr">
                    <a:solidFill>
                      <a:srgbClr val="FFFFFF"/>
                    </a:solidFill>
                  </a:tcPr>
                </a:tc>
                <a:tc>
                  <a:txBody>
                    <a:bodyPr/>
                    <a:lstStyle/>
                    <a:p>
                      <a:pPr>
                        <a:defRPr sz="1300">
                          <a:solidFill>
                            <a:srgbClr val="16232B"/>
                          </a:solidFill>
                          <a:latin typeface="Calibri"/>
                        </a:defRPr>
                      </a:pPr>
                      <a:r>
                        <a:t>Geolocalización móvil del repartidor</a:t>
                      </a:r>
                    </a:p>
                  </a:txBody>
                  <a:tcPr marL="76200" marR="76200" marT="25400" marB="25400" anchor="ctr">
                    <a:solidFill>
                      <a:srgbClr val="FFFFFF"/>
                    </a:solidFill>
                  </a:tcPr>
                </a:tc>
                <a:tc>
                  <a:txBody>
                    <a:bodyPr/>
                    <a:lstStyle/>
                    <a:p>
                      <a:pPr>
                        <a:defRPr sz="1300">
                          <a:solidFill>
                            <a:srgbClr val="16232B"/>
                          </a:solidFill>
                          <a:latin typeface="Calibri"/>
                        </a:defRPr>
                      </a:pPr>
                      <a:r>
                        <a:t>Alta</a:t>
                      </a:r>
                    </a:p>
                  </a:txBody>
                  <a:tcPr marL="76200" marR="76200" marT="25400" marB="25400" anchor="ctr">
                    <a:solidFill>
                      <a:srgbClr val="FFFFFF"/>
                    </a:solidFill>
                  </a:tcPr>
                </a:tc>
                <a:tc>
                  <a:txBody>
                    <a:bodyPr/>
                    <a:lstStyle/>
                    <a:p>
                      <a:pPr>
                        <a:defRPr sz="1300">
                          <a:solidFill>
                            <a:srgbClr val="16232B"/>
                          </a:solidFill>
                          <a:latin typeface="Calibri"/>
                        </a:defRPr>
                      </a:pPr>
                      <a:r>
                        <a:t>Sí</a:t>
                      </a:r>
                    </a:p>
                  </a:txBody>
                  <a:tcPr marL="76200" marR="76200" marT="25400" marB="25400" anchor="ctr">
                    <a:solidFill>
                      <a:srgbClr val="FFFFFF"/>
                    </a:solidFill>
                  </a:tcPr>
                </a:tc>
                <a:extLst>
                  <a:ext uri="{0D108BD9-81ED-4DB2-BD59-A6C34878D82A}">
                    <a16:rowId xmlns:a16="http://schemas.microsoft.com/office/drawing/2014/main" val="10004"/>
                  </a:ext>
                </a:extLst>
              </a:tr>
              <a:tr h="502920">
                <a:tc>
                  <a:txBody>
                    <a:bodyPr/>
                    <a:lstStyle/>
                    <a:p>
                      <a:pPr>
                        <a:defRPr sz="1300">
                          <a:solidFill>
                            <a:srgbClr val="16232B"/>
                          </a:solidFill>
                          <a:latin typeface="Calibri"/>
                        </a:defRPr>
                      </a:pPr>
                      <a:r>
                        <a:t>HU-05</a:t>
                      </a:r>
                    </a:p>
                  </a:txBody>
                  <a:tcPr marL="76200" marR="76200" marT="25400" marB="25400" anchor="ctr">
                    <a:solidFill>
                      <a:srgbClr val="F3F6F4"/>
                    </a:solidFill>
                  </a:tcPr>
                </a:tc>
                <a:tc>
                  <a:txBody>
                    <a:bodyPr/>
                    <a:lstStyle/>
                    <a:p>
                      <a:pPr>
                        <a:defRPr sz="1300">
                          <a:solidFill>
                            <a:srgbClr val="16232B"/>
                          </a:solidFill>
                          <a:latin typeface="Calibri"/>
                        </a:defRPr>
                      </a:pPr>
                      <a:r>
                        <a:t>Cierre digital del servicio</a:t>
                      </a:r>
                    </a:p>
                  </a:txBody>
                  <a:tcPr marL="76200" marR="76200" marT="25400" marB="25400" anchor="ctr">
                    <a:solidFill>
                      <a:srgbClr val="F3F6F4"/>
                    </a:solidFill>
                  </a:tcPr>
                </a:tc>
                <a:tc>
                  <a:txBody>
                    <a:bodyPr/>
                    <a:lstStyle/>
                    <a:p>
                      <a:pPr>
                        <a:defRPr sz="1300">
                          <a:solidFill>
                            <a:srgbClr val="16232B"/>
                          </a:solidFill>
                          <a:latin typeface="Calibri"/>
                        </a:defRPr>
                      </a:pPr>
                      <a:r>
                        <a:t>Media</a:t>
                      </a:r>
                    </a:p>
                  </a:txBody>
                  <a:tcPr marL="76200" marR="76200" marT="25400" marB="25400" anchor="ctr">
                    <a:solidFill>
                      <a:srgbClr val="F3F6F4"/>
                    </a:solidFill>
                  </a:tcPr>
                </a:tc>
                <a:tc>
                  <a:txBody>
                    <a:bodyPr/>
                    <a:lstStyle/>
                    <a:p>
                      <a:pPr>
                        <a:defRPr sz="1300">
                          <a:solidFill>
                            <a:srgbClr val="16232B"/>
                          </a:solidFill>
                          <a:latin typeface="Calibri"/>
                        </a:defRPr>
                      </a:pPr>
                      <a:r>
                        <a:t>No</a:t>
                      </a:r>
                    </a:p>
                  </a:txBody>
                  <a:tcPr marL="76200" marR="76200" marT="25400" marB="25400" anchor="ctr">
                    <a:solidFill>
                      <a:srgbClr val="F3F6F4"/>
                    </a:solidFill>
                  </a:tcPr>
                </a:tc>
                <a:extLst>
                  <a:ext uri="{0D108BD9-81ED-4DB2-BD59-A6C34878D82A}">
                    <a16:rowId xmlns:a16="http://schemas.microsoft.com/office/drawing/2014/main" val="10005"/>
                  </a:ext>
                </a:extLst>
              </a:tr>
              <a:tr h="502920">
                <a:tc>
                  <a:txBody>
                    <a:bodyPr/>
                    <a:lstStyle/>
                    <a:p>
                      <a:pPr>
                        <a:defRPr sz="1300">
                          <a:solidFill>
                            <a:srgbClr val="16232B"/>
                          </a:solidFill>
                          <a:latin typeface="Calibri"/>
                        </a:defRPr>
                      </a:pPr>
                      <a:r>
                        <a:t>HU-06</a:t>
                      </a:r>
                    </a:p>
                  </a:txBody>
                  <a:tcPr marL="76200" marR="76200" marT="25400" marB="25400" anchor="ctr">
                    <a:solidFill>
                      <a:srgbClr val="FFFFFF"/>
                    </a:solidFill>
                  </a:tcPr>
                </a:tc>
                <a:tc>
                  <a:txBody>
                    <a:bodyPr/>
                    <a:lstStyle/>
                    <a:p>
                      <a:pPr>
                        <a:defRPr sz="1300">
                          <a:solidFill>
                            <a:srgbClr val="16232B"/>
                          </a:solidFill>
                          <a:latin typeface="Calibri"/>
                        </a:defRPr>
                      </a:pPr>
                      <a:r>
                        <a:t>Búsqueda asistida por voz</a:t>
                      </a:r>
                    </a:p>
                  </a:txBody>
                  <a:tcPr marL="76200" marR="76200" marT="25400" marB="25400" anchor="ctr">
                    <a:solidFill>
                      <a:srgbClr val="FFFFFF"/>
                    </a:solidFill>
                  </a:tcPr>
                </a:tc>
                <a:tc>
                  <a:txBody>
                    <a:bodyPr/>
                    <a:lstStyle/>
                    <a:p>
                      <a:pPr>
                        <a:defRPr sz="1300">
                          <a:solidFill>
                            <a:srgbClr val="16232B"/>
                          </a:solidFill>
                          <a:latin typeface="Calibri"/>
                        </a:defRPr>
                      </a:pPr>
                      <a:r>
                        <a:t>Media</a:t>
                      </a:r>
                    </a:p>
                  </a:txBody>
                  <a:tcPr marL="76200" marR="76200" marT="25400" marB="25400" anchor="ctr">
                    <a:solidFill>
                      <a:srgbClr val="FFFFFF"/>
                    </a:solidFill>
                  </a:tcPr>
                </a:tc>
                <a:tc>
                  <a:txBody>
                    <a:bodyPr/>
                    <a:lstStyle/>
                    <a:p>
                      <a:pPr>
                        <a:defRPr sz="1300">
                          <a:solidFill>
                            <a:srgbClr val="16232B"/>
                          </a:solidFill>
                          <a:latin typeface="Calibri"/>
                        </a:defRPr>
                      </a:pPr>
                      <a:r>
                        <a:t>Sí</a:t>
                      </a:r>
                    </a:p>
                  </a:txBody>
                  <a:tcPr marL="76200" marR="76200" marT="25400" marB="25400" anchor="ctr">
                    <a:solidFill>
                      <a:srgbClr val="FFFFFF"/>
                    </a:solidFill>
                  </a:tcPr>
                </a:tc>
                <a:extLst>
                  <a:ext uri="{0D108BD9-81ED-4DB2-BD59-A6C34878D82A}">
                    <a16:rowId xmlns:a16="http://schemas.microsoft.com/office/drawing/2014/main" val="10006"/>
                  </a:ext>
                </a:extLst>
              </a:tr>
              <a:tr h="502920">
                <a:tc>
                  <a:txBody>
                    <a:bodyPr/>
                    <a:lstStyle/>
                    <a:p>
                      <a:pPr>
                        <a:defRPr sz="1300">
                          <a:solidFill>
                            <a:srgbClr val="16232B"/>
                          </a:solidFill>
                          <a:latin typeface="Calibri"/>
                        </a:defRPr>
                      </a:pPr>
                      <a:r>
                        <a:t>HU-07</a:t>
                      </a:r>
                    </a:p>
                  </a:txBody>
                  <a:tcPr marL="76200" marR="76200" marT="25400" marB="25400" anchor="ctr">
                    <a:solidFill>
                      <a:srgbClr val="F3F6F4"/>
                    </a:solidFill>
                  </a:tcPr>
                </a:tc>
                <a:tc>
                  <a:txBody>
                    <a:bodyPr/>
                    <a:lstStyle/>
                    <a:p>
                      <a:pPr>
                        <a:defRPr sz="1300">
                          <a:solidFill>
                            <a:srgbClr val="16232B"/>
                          </a:solidFill>
                          <a:latin typeface="Calibri"/>
                        </a:defRPr>
                      </a:pPr>
                      <a:r>
                        <a:t>Controles de flujos críticos</a:t>
                      </a:r>
                    </a:p>
                  </a:txBody>
                  <a:tcPr marL="76200" marR="76200" marT="25400" marB="25400" anchor="ctr">
                    <a:solidFill>
                      <a:srgbClr val="F3F6F4"/>
                    </a:solidFill>
                  </a:tcPr>
                </a:tc>
                <a:tc>
                  <a:txBody>
                    <a:bodyPr/>
                    <a:lstStyle/>
                    <a:p>
                      <a:pPr>
                        <a:defRPr sz="1300">
                          <a:solidFill>
                            <a:srgbClr val="16232B"/>
                          </a:solidFill>
                          <a:latin typeface="Calibri"/>
                        </a:defRPr>
                      </a:pPr>
                      <a:r>
                        <a:t>Media</a:t>
                      </a:r>
                    </a:p>
                  </a:txBody>
                  <a:tcPr marL="76200" marR="76200" marT="25400" marB="25400" anchor="ctr">
                    <a:solidFill>
                      <a:srgbClr val="F3F6F4"/>
                    </a:solidFill>
                  </a:tcPr>
                </a:tc>
                <a:tc>
                  <a:txBody>
                    <a:bodyPr/>
                    <a:lstStyle/>
                    <a:p>
                      <a:pPr>
                        <a:defRPr sz="1300">
                          <a:solidFill>
                            <a:srgbClr val="16232B"/>
                          </a:solidFill>
                          <a:latin typeface="Calibri"/>
                        </a:defRPr>
                      </a:pPr>
                      <a:r>
                        <a:t>No</a:t>
                      </a:r>
                    </a:p>
                  </a:txBody>
                  <a:tcPr marL="76200" marR="76200" marT="25400" marB="25400" anchor="ctr">
                    <a:solidFill>
                      <a:srgbClr val="F3F6F4"/>
                    </a:solidFill>
                  </a:tcPr>
                </a:tc>
                <a:extLst>
                  <a:ext uri="{0D108BD9-81ED-4DB2-BD59-A6C34878D82A}">
                    <a16:rowId xmlns:a16="http://schemas.microsoft.com/office/drawing/2014/main" val="10007"/>
                  </a:ext>
                </a:extLst>
              </a:tr>
            </a:tbl>
          </a:graphicData>
        </a:graphic>
      </p:graphicFrame>
      <p:sp>
        <p:nvSpPr>
          <p:cNvPr id="6" name="Rectangle 5"/>
          <p:cNvSpPr/>
          <p:nvPr/>
        </p:nvSpPr>
        <p:spPr>
          <a:xfrm>
            <a:off x="0" y="6528816"/>
            <a:ext cx="12191695" cy="18288"/>
          </a:xfrm>
          <a:prstGeom prst="rect">
            <a:avLst/>
          </a:prstGeom>
          <a:solidFill>
            <a:srgbClr val="C9D2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7315200" cy="274320"/>
          </a:xfrm>
          <a:prstGeom prst="rect">
            <a:avLst/>
          </a:prstGeom>
          <a:noFill/>
        </p:spPr>
        <p:txBody>
          <a:bodyPr wrap="square" lIns="0" tIns="0" rIns="0" bIns="0" anchor="t">
            <a:spAutoFit/>
          </a:bodyPr>
          <a:lstStyle/>
          <a:p>
            <a:pPr algn="l">
              <a:lnSpc>
                <a:spcPct val="100000"/>
              </a:lnSpc>
            </a:pPr>
            <a:r>
              <a:rPr sz="900" b="0" i="0">
                <a:solidFill>
                  <a:srgbClr val="57666C"/>
                </a:solidFill>
                <a:latin typeface="Calibri"/>
              </a:rPr>
              <a:t>FoodVoice · AINC422 · Semana 4</a:t>
            </a:r>
          </a:p>
        </p:txBody>
      </p:sp>
      <p:sp>
        <p:nvSpPr>
          <p:cNvPr id="8" name="TextBox 7"/>
          <p:cNvSpPr txBox="1"/>
          <p:nvPr/>
        </p:nvSpPr>
        <p:spPr>
          <a:xfrm>
            <a:off x="11094415" y="6583680"/>
            <a:ext cx="640080" cy="274320"/>
          </a:xfrm>
          <a:prstGeom prst="rect">
            <a:avLst/>
          </a:prstGeom>
          <a:noFill/>
        </p:spPr>
        <p:txBody>
          <a:bodyPr wrap="square" lIns="0" tIns="0" rIns="0" bIns="0" anchor="t">
            <a:spAutoFit/>
          </a:bodyPr>
          <a:lstStyle/>
          <a:p>
            <a:pPr algn="r">
              <a:lnSpc>
                <a:spcPct val="100000"/>
              </a:lnSpc>
            </a:pPr>
            <a:r>
              <a:rPr sz="900" b="0" i="0">
                <a:solidFill>
                  <a:srgbClr val="57666C"/>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6F4"/>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lgn="l">
              <a:lnSpc>
                <a:spcPct val="100000"/>
              </a:lnSpc>
            </a:pPr>
            <a:r>
              <a:rPr sz="1200" b="1" i="0">
                <a:solidFill>
                  <a:srgbClr val="D9821F"/>
                </a:solidFill>
                <a:latin typeface="Calibri"/>
              </a:rPr>
              <a:t>REQUERIMIENTOS Y ALCANCE</a:t>
            </a:r>
          </a:p>
        </p:txBody>
      </p:sp>
      <p:sp>
        <p:nvSpPr>
          <p:cNvPr id="3" name="TextBox 2"/>
          <p:cNvSpPr txBox="1"/>
          <p:nvPr/>
        </p:nvSpPr>
        <p:spPr>
          <a:xfrm>
            <a:off x="548640" y="704088"/>
            <a:ext cx="11064240" cy="640080"/>
          </a:xfrm>
          <a:prstGeom prst="rect">
            <a:avLst/>
          </a:prstGeom>
          <a:noFill/>
        </p:spPr>
        <p:txBody>
          <a:bodyPr wrap="square" lIns="0" tIns="0" rIns="0" bIns="0" anchor="t">
            <a:spAutoFit/>
          </a:bodyPr>
          <a:lstStyle/>
          <a:p>
            <a:pPr algn="l">
              <a:lnSpc>
                <a:spcPct val="100000"/>
              </a:lnSpc>
            </a:pPr>
            <a:r>
              <a:rPr sz="2800" b="1" i="0">
                <a:solidFill>
                  <a:srgbClr val="16232B"/>
                </a:solidFill>
                <a:latin typeface="Calibri"/>
              </a:rPr>
              <a:t>Requerimientos — Casos de Uso (UML)</a:t>
            </a:r>
          </a:p>
        </p:txBody>
      </p:sp>
      <p:sp>
        <p:nvSpPr>
          <p:cNvPr id="4" name="Rectangle 3"/>
          <p:cNvSpPr/>
          <p:nvPr/>
        </p:nvSpPr>
        <p:spPr>
          <a:xfrm>
            <a:off x="548640" y="1271016"/>
            <a:ext cx="2743200" cy="27432"/>
          </a:xfrm>
          <a:prstGeom prst="rect">
            <a:avLst/>
          </a:prstGeom>
          <a:solidFill>
            <a:srgbClr val="D9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99616"/>
            <a:ext cx="10789920" cy="822960"/>
          </a:xfrm>
          <a:prstGeom prst="rect">
            <a:avLst/>
          </a:prstGeom>
          <a:noFill/>
        </p:spPr>
        <p:txBody>
          <a:bodyPr wrap="square" lIns="0" tIns="0">
            <a:spAutoFit/>
          </a:bodyPr>
          <a:lstStyle/>
          <a:p>
            <a:pPr>
              <a:lnSpc>
                <a:spcPct val="112000"/>
              </a:lnSpc>
              <a:spcAft>
                <a:spcPts val="1000"/>
              </a:spcAft>
            </a:pPr>
            <a:r>
              <a:rPr sz="1400" b="1">
                <a:solidFill>
                  <a:srgbClr val="D9821F"/>
                </a:solidFill>
                <a:latin typeface="Calibri"/>
              </a:rPr>
              <a:t>—  </a:t>
            </a:r>
            <a:r>
              <a:rPr sz="1400">
                <a:solidFill>
                  <a:srgbClr val="16232B"/>
                </a:solidFill>
                <a:latin typeface="Calibri"/>
              </a:rPr>
              <a:t>4 actores · 9 casos de uso · relaciones «extend» e «include» sobre el registro de estado.</a:t>
            </a:r>
          </a:p>
        </p:txBody>
      </p:sp>
      <p:pic>
        <p:nvPicPr>
          <p:cNvPr id="6" name="Picture 5" descr="uc-diagram.png"/>
          <p:cNvPicPr>
            <a:picLocks noChangeAspect="1"/>
          </p:cNvPicPr>
          <p:nvPr/>
        </p:nvPicPr>
        <p:blipFill>
          <a:blip r:embed="rId3"/>
          <a:stretch>
            <a:fillRect/>
          </a:stretch>
        </p:blipFill>
        <p:spPr>
          <a:xfrm>
            <a:off x="2963632" y="1691640"/>
            <a:ext cx="6264431" cy="4480560"/>
          </a:xfrm>
          <a:prstGeom prst="rect">
            <a:avLst/>
          </a:prstGeom>
        </p:spPr>
      </p:pic>
      <p:sp>
        <p:nvSpPr>
          <p:cNvPr id="7" name="Rectangle 6"/>
          <p:cNvSpPr/>
          <p:nvPr/>
        </p:nvSpPr>
        <p:spPr>
          <a:xfrm>
            <a:off x="0" y="6528816"/>
            <a:ext cx="12191695" cy="18288"/>
          </a:xfrm>
          <a:prstGeom prst="rect">
            <a:avLst/>
          </a:prstGeom>
          <a:solidFill>
            <a:srgbClr val="C9D2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83680"/>
            <a:ext cx="7315200" cy="274320"/>
          </a:xfrm>
          <a:prstGeom prst="rect">
            <a:avLst/>
          </a:prstGeom>
          <a:noFill/>
        </p:spPr>
        <p:txBody>
          <a:bodyPr wrap="square" lIns="0" tIns="0" rIns="0" bIns="0" anchor="t">
            <a:spAutoFit/>
          </a:bodyPr>
          <a:lstStyle/>
          <a:p>
            <a:pPr algn="l">
              <a:lnSpc>
                <a:spcPct val="100000"/>
              </a:lnSpc>
            </a:pPr>
            <a:r>
              <a:rPr sz="900" b="0" i="0">
                <a:solidFill>
                  <a:srgbClr val="57666C"/>
                </a:solidFill>
                <a:latin typeface="Calibri"/>
              </a:rPr>
              <a:t>FoodVoice · AINC422 · Semana 4</a:t>
            </a:r>
          </a:p>
        </p:txBody>
      </p:sp>
      <p:sp>
        <p:nvSpPr>
          <p:cNvPr id="9" name="TextBox 8"/>
          <p:cNvSpPr txBox="1"/>
          <p:nvPr/>
        </p:nvSpPr>
        <p:spPr>
          <a:xfrm>
            <a:off x="11094415" y="6583680"/>
            <a:ext cx="640080" cy="274320"/>
          </a:xfrm>
          <a:prstGeom prst="rect">
            <a:avLst/>
          </a:prstGeom>
          <a:noFill/>
        </p:spPr>
        <p:txBody>
          <a:bodyPr wrap="square" lIns="0" tIns="0" rIns="0" bIns="0" anchor="t">
            <a:spAutoFit/>
          </a:bodyPr>
          <a:lstStyle/>
          <a:p>
            <a:pPr algn="r">
              <a:lnSpc>
                <a:spcPct val="100000"/>
              </a:lnSpc>
            </a:pPr>
            <a:r>
              <a:rPr sz="900" b="0" i="0">
                <a:solidFill>
                  <a:srgbClr val="57666C"/>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6F4"/>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lgn="l">
              <a:lnSpc>
                <a:spcPct val="100000"/>
              </a:lnSpc>
            </a:pPr>
            <a:r>
              <a:rPr sz="1200" b="1" i="0">
                <a:solidFill>
                  <a:srgbClr val="D9821F"/>
                </a:solidFill>
                <a:latin typeface="Calibri"/>
              </a:rPr>
              <a:t>REQUERIMIENTOS Y ALCANCE</a:t>
            </a:r>
          </a:p>
        </p:txBody>
      </p:sp>
      <p:sp>
        <p:nvSpPr>
          <p:cNvPr id="3" name="TextBox 2"/>
          <p:cNvSpPr txBox="1"/>
          <p:nvPr/>
        </p:nvSpPr>
        <p:spPr>
          <a:xfrm>
            <a:off x="548640" y="704088"/>
            <a:ext cx="11064240" cy="640080"/>
          </a:xfrm>
          <a:prstGeom prst="rect">
            <a:avLst/>
          </a:prstGeom>
          <a:noFill/>
        </p:spPr>
        <p:txBody>
          <a:bodyPr wrap="square" lIns="0" tIns="0" rIns="0" bIns="0" anchor="t">
            <a:spAutoFit/>
          </a:bodyPr>
          <a:lstStyle/>
          <a:p>
            <a:pPr algn="l">
              <a:lnSpc>
                <a:spcPct val="100000"/>
              </a:lnSpc>
            </a:pPr>
            <a:r>
              <a:rPr sz="2800" b="1" i="0">
                <a:solidFill>
                  <a:srgbClr val="16232B"/>
                </a:solidFill>
                <a:latin typeface="Calibri"/>
              </a:rPr>
              <a:t>Alcance del MPV</a:t>
            </a:r>
          </a:p>
        </p:txBody>
      </p:sp>
      <p:sp>
        <p:nvSpPr>
          <p:cNvPr id="4" name="Rectangle 3"/>
          <p:cNvSpPr/>
          <p:nvPr/>
        </p:nvSpPr>
        <p:spPr>
          <a:xfrm>
            <a:off x="548640" y="1271016"/>
            <a:ext cx="2743200" cy="27432"/>
          </a:xfrm>
          <a:prstGeom prst="rect">
            <a:avLst/>
          </a:prstGeom>
          <a:solidFill>
            <a:srgbClr val="D9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48640" y="1591056"/>
          <a:ext cx="11064239" cy="3566160"/>
        </p:xfrm>
        <a:graphic>
          <a:graphicData uri="http://schemas.openxmlformats.org/drawingml/2006/table">
            <a:tbl>
              <a:tblPr firstRow="1" bandRow="1">
                <a:tableStyleId>{5C22544A-7EE6-4342-B048-85BDC9FD1C3A}</a:tableStyleId>
              </a:tblPr>
              <a:tblGrid>
                <a:gridCol w="4978908">
                  <a:extLst>
                    <a:ext uri="{9D8B030D-6E8A-4147-A177-3AD203B41FA5}">
                      <a16:colId xmlns:a16="http://schemas.microsoft.com/office/drawing/2014/main" val="20000"/>
                    </a:ext>
                  </a:extLst>
                </a:gridCol>
                <a:gridCol w="2212848">
                  <a:extLst>
                    <a:ext uri="{9D8B030D-6E8A-4147-A177-3AD203B41FA5}">
                      <a16:colId xmlns:a16="http://schemas.microsoft.com/office/drawing/2014/main" val="20001"/>
                    </a:ext>
                  </a:extLst>
                </a:gridCol>
                <a:gridCol w="3872483">
                  <a:extLst>
                    <a:ext uri="{9D8B030D-6E8A-4147-A177-3AD203B41FA5}">
                      <a16:colId xmlns:a16="http://schemas.microsoft.com/office/drawing/2014/main" val="20002"/>
                    </a:ext>
                  </a:extLst>
                </a:gridCol>
              </a:tblGrid>
              <a:tr h="445770">
                <a:tc>
                  <a:txBody>
                    <a:bodyPr/>
                    <a:lstStyle/>
                    <a:p>
                      <a:pPr>
                        <a:defRPr sz="1300" b="1">
                          <a:solidFill>
                            <a:srgbClr val="FFFFFF"/>
                          </a:solidFill>
                          <a:latin typeface="Calibri"/>
                        </a:defRPr>
                      </a:pPr>
                      <a:r>
                        <a:t>Historia de usuario</a:t>
                      </a:r>
                    </a:p>
                  </a:txBody>
                  <a:tcPr marL="76200" marR="76200" marT="38100" marB="38100" anchor="ctr">
                    <a:solidFill>
                      <a:srgbClr val="16232B"/>
                    </a:solidFill>
                  </a:tcPr>
                </a:tc>
                <a:tc>
                  <a:txBody>
                    <a:bodyPr/>
                    <a:lstStyle/>
                    <a:p>
                      <a:pPr>
                        <a:defRPr sz="1300" b="1">
                          <a:solidFill>
                            <a:srgbClr val="FFFFFF"/>
                          </a:solidFill>
                          <a:latin typeface="Calibri"/>
                        </a:defRPr>
                      </a:pPr>
                      <a:r>
                        <a:t>Plataforma</a:t>
                      </a:r>
                    </a:p>
                  </a:txBody>
                  <a:tcPr marL="76200" marR="76200" marT="38100" marB="38100" anchor="ctr">
                    <a:solidFill>
                      <a:srgbClr val="16232B"/>
                    </a:solidFill>
                  </a:tcPr>
                </a:tc>
                <a:tc>
                  <a:txBody>
                    <a:bodyPr/>
                    <a:lstStyle/>
                    <a:p>
                      <a:pPr>
                        <a:defRPr sz="1300" b="1">
                          <a:solidFill>
                            <a:srgbClr val="FFFFFF"/>
                          </a:solidFill>
                          <a:latin typeface="Calibri"/>
                        </a:defRPr>
                      </a:pPr>
                      <a:r>
                        <a:t>En alcance</a:t>
                      </a:r>
                    </a:p>
                  </a:txBody>
                  <a:tcPr marL="76200" marR="76200" marT="38100" marB="38100" anchor="ctr">
                    <a:solidFill>
                      <a:srgbClr val="16232B"/>
                    </a:solidFill>
                  </a:tcPr>
                </a:tc>
                <a:extLst>
                  <a:ext uri="{0D108BD9-81ED-4DB2-BD59-A6C34878D82A}">
                    <a16:rowId xmlns:a16="http://schemas.microsoft.com/office/drawing/2014/main" val="10000"/>
                  </a:ext>
                </a:extLst>
              </a:tr>
              <a:tr h="445770">
                <a:tc>
                  <a:txBody>
                    <a:bodyPr/>
                    <a:lstStyle/>
                    <a:p>
                      <a:pPr>
                        <a:defRPr sz="1300">
                          <a:solidFill>
                            <a:srgbClr val="16232B"/>
                          </a:solidFill>
                          <a:latin typeface="Calibri"/>
                        </a:defRPr>
                      </a:pPr>
                      <a:r>
                        <a:t>HU-01 Gestión de pedidos</a:t>
                      </a:r>
                    </a:p>
                  </a:txBody>
                  <a:tcPr marL="76200" marR="76200" marT="25400" marB="25400" anchor="ctr">
                    <a:solidFill>
                      <a:srgbClr val="F3F6F4"/>
                    </a:solidFill>
                  </a:tcPr>
                </a:tc>
                <a:tc>
                  <a:txBody>
                    <a:bodyPr/>
                    <a:lstStyle/>
                    <a:p>
                      <a:pPr>
                        <a:defRPr sz="1300">
                          <a:solidFill>
                            <a:srgbClr val="16232B"/>
                          </a:solidFill>
                          <a:latin typeface="Calibri"/>
                        </a:defRPr>
                      </a:pPr>
                      <a:r>
                        <a:t>Web</a:t>
                      </a:r>
                    </a:p>
                  </a:txBody>
                  <a:tcPr marL="76200" marR="76200" marT="25400" marB="25400" anchor="ctr">
                    <a:solidFill>
                      <a:srgbClr val="F3F6F4"/>
                    </a:solidFill>
                  </a:tcPr>
                </a:tc>
                <a:tc>
                  <a:txBody>
                    <a:bodyPr/>
                    <a:lstStyle/>
                    <a:p>
                      <a:pPr>
                        <a:defRPr sz="1300">
                          <a:solidFill>
                            <a:srgbClr val="16232B"/>
                          </a:solidFill>
                          <a:latin typeface="Calibri"/>
                        </a:defRPr>
                      </a:pPr>
                      <a:r>
                        <a:t>Dentro</a:t>
                      </a:r>
                    </a:p>
                  </a:txBody>
                  <a:tcPr marL="76200" marR="76200" marT="25400" marB="25400" anchor="ctr">
                    <a:solidFill>
                      <a:srgbClr val="F3F6F4"/>
                    </a:solidFill>
                  </a:tcPr>
                </a:tc>
                <a:extLst>
                  <a:ext uri="{0D108BD9-81ED-4DB2-BD59-A6C34878D82A}">
                    <a16:rowId xmlns:a16="http://schemas.microsoft.com/office/drawing/2014/main" val="10001"/>
                  </a:ext>
                </a:extLst>
              </a:tr>
              <a:tr h="445770">
                <a:tc>
                  <a:txBody>
                    <a:bodyPr/>
                    <a:lstStyle/>
                    <a:p>
                      <a:pPr>
                        <a:defRPr sz="1300">
                          <a:solidFill>
                            <a:srgbClr val="16232B"/>
                          </a:solidFill>
                          <a:latin typeface="Calibri"/>
                        </a:defRPr>
                      </a:pPr>
                      <a:r>
                        <a:t>HU-02 Administración de menú</a:t>
                      </a:r>
                    </a:p>
                  </a:txBody>
                  <a:tcPr marL="76200" marR="76200" marT="25400" marB="25400" anchor="ctr">
                    <a:solidFill>
                      <a:srgbClr val="FFFFFF"/>
                    </a:solidFill>
                  </a:tcPr>
                </a:tc>
                <a:tc>
                  <a:txBody>
                    <a:bodyPr/>
                    <a:lstStyle/>
                    <a:p>
                      <a:pPr>
                        <a:defRPr sz="1300">
                          <a:solidFill>
                            <a:srgbClr val="16232B"/>
                          </a:solidFill>
                          <a:latin typeface="Calibri"/>
                        </a:defRPr>
                      </a:pPr>
                      <a:r>
                        <a:t>Web</a:t>
                      </a:r>
                    </a:p>
                  </a:txBody>
                  <a:tcPr marL="76200" marR="76200" marT="25400" marB="25400" anchor="ctr">
                    <a:solidFill>
                      <a:srgbClr val="FFFFFF"/>
                    </a:solidFill>
                  </a:tcPr>
                </a:tc>
                <a:tc>
                  <a:txBody>
                    <a:bodyPr/>
                    <a:lstStyle/>
                    <a:p>
                      <a:pPr>
                        <a:defRPr sz="1300">
                          <a:solidFill>
                            <a:srgbClr val="16232B"/>
                          </a:solidFill>
                          <a:latin typeface="Calibri"/>
                        </a:defRPr>
                      </a:pPr>
                      <a:r>
                        <a:t>Dentro</a:t>
                      </a:r>
                    </a:p>
                  </a:txBody>
                  <a:tcPr marL="76200" marR="76200" marT="25400" marB="25400" anchor="ctr">
                    <a:solidFill>
                      <a:srgbClr val="FFFFFF"/>
                    </a:solidFill>
                  </a:tcPr>
                </a:tc>
                <a:extLst>
                  <a:ext uri="{0D108BD9-81ED-4DB2-BD59-A6C34878D82A}">
                    <a16:rowId xmlns:a16="http://schemas.microsoft.com/office/drawing/2014/main" val="10002"/>
                  </a:ext>
                </a:extLst>
              </a:tr>
              <a:tr h="445770">
                <a:tc>
                  <a:txBody>
                    <a:bodyPr/>
                    <a:lstStyle/>
                    <a:p>
                      <a:pPr>
                        <a:defRPr sz="1300">
                          <a:solidFill>
                            <a:srgbClr val="16232B"/>
                          </a:solidFill>
                          <a:latin typeface="Calibri"/>
                        </a:defRPr>
                      </a:pPr>
                      <a:r>
                        <a:t>HU-03 Trazabilidad</a:t>
                      </a:r>
                    </a:p>
                  </a:txBody>
                  <a:tcPr marL="76200" marR="76200" marT="25400" marB="25400" anchor="ctr">
                    <a:solidFill>
                      <a:srgbClr val="F3F6F4"/>
                    </a:solidFill>
                  </a:tcPr>
                </a:tc>
                <a:tc>
                  <a:txBody>
                    <a:bodyPr/>
                    <a:lstStyle/>
                    <a:p>
                      <a:pPr>
                        <a:defRPr sz="1300">
                          <a:solidFill>
                            <a:srgbClr val="16232B"/>
                          </a:solidFill>
                          <a:latin typeface="Calibri"/>
                        </a:defRPr>
                      </a:pPr>
                      <a:r>
                        <a:t>Web</a:t>
                      </a:r>
                    </a:p>
                  </a:txBody>
                  <a:tcPr marL="76200" marR="76200" marT="25400" marB="25400" anchor="ctr">
                    <a:solidFill>
                      <a:srgbClr val="F3F6F4"/>
                    </a:solidFill>
                  </a:tcPr>
                </a:tc>
                <a:tc>
                  <a:txBody>
                    <a:bodyPr/>
                    <a:lstStyle/>
                    <a:p>
                      <a:pPr>
                        <a:defRPr sz="1300">
                          <a:solidFill>
                            <a:srgbClr val="16232B"/>
                          </a:solidFill>
                          <a:latin typeface="Calibri"/>
                        </a:defRPr>
                      </a:pPr>
                      <a:r>
                        <a:t>Dentro</a:t>
                      </a:r>
                    </a:p>
                  </a:txBody>
                  <a:tcPr marL="76200" marR="76200" marT="25400" marB="25400" anchor="ctr">
                    <a:solidFill>
                      <a:srgbClr val="F3F6F4"/>
                    </a:solidFill>
                  </a:tcPr>
                </a:tc>
                <a:extLst>
                  <a:ext uri="{0D108BD9-81ED-4DB2-BD59-A6C34878D82A}">
                    <a16:rowId xmlns:a16="http://schemas.microsoft.com/office/drawing/2014/main" val="10003"/>
                  </a:ext>
                </a:extLst>
              </a:tr>
              <a:tr h="445770">
                <a:tc>
                  <a:txBody>
                    <a:bodyPr/>
                    <a:lstStyle/>
                    <a:p>
                      <a:pPr>
                        <a:defRPr sz="1300">
                          <a:solidFill>
                            <a:srgbClr val="16232B"/>
                          </a:solidFill>
                          <a:latin typeface="Calibri"/>
                        </a:defRPr>
                      </a:pPr>
                      <a:r>
                        <a:t>HU-04 Geolocalización</a:t>
                      </a:r>
                    </a:p>
                  </a:txBody>
                  <a:tcPr marL="76200" marR="76200" marT="25400" marB="25400" anchor="ctr">
                    <a:solidFill>
                      <a:srgbClr val="FFFFFF"/>
                    </a:solidFill>
                  </a:tcPr>
                </a:tc>
                <a:tc>
                  <a:txBody>
                    <a:bodyPr/>
                    <a:lstStyle/>
                    <a:p>
                      <a:pPr>
                        <a:defRPr sz="1300">
                          <a:solidFill>
                            <a:srgbClr val="16232B"/>
                          </a:solidFill>
                          <a:latin typeface="Calibri"/>
                        </a:defRPr>
                      </a:pPr>
                      <a:r>
                        <a:t>Móvil</a:t>
                      </a:r>
                    </a:p>
                  </a:txBody>
                  <a:tcPr marL="76200" marR="76200" marT="25400" marB="25400" anchor="ctr">
                    <a:solidFill>
                      <a:srgbClr val="FFFFFF"/>
                    </a:solidFill>
                  </a:tcPr>
                </a:tc>
                <a:tc>
                  <a:txBody>
                    <a:bodyPr/>
                    <a:lstStyle/>
                    <a:p>
                      <a:pPr>
                        <a:defRPr sz="1300">
                          <a:solidFill>
                            <a:srgbClr val="16232B"/>
                          </a:solidFill>
                          <a:latin typeface="Calibri"/>
                        </a:defRPr>
                      </a:pPr>
                      <a:r>
                        <a:t>Dentro</a:t>
                      </a:r>
                    </a:p>
                  </a:txBody>
                  <a:tcPr marL="76200" marR="76200" marT="25400" marB="25400" anchor="ctr">
                    <a:solidFill>
                      <a:srgbClr val="FFFFFF"/>
                    </a:solidFill>
                  </a:tcPr>
                </a:tc>
                <a:extLst>
                  <a:ext uri="{0D108BD9-81ED-4DB2-BD59-A6C34878D82A}">
                    <a16:rowId xmlns:a16="http://schemas.microsoft.com/office/drawing/2014/main" val="10004"/>
                  </a:ext>
                </a:extLst>
              </a:tr>
              <a:tr h="445770">
                <a:tc>
                  <a:txBody>
                    <a:bodyPr/>
                    <a:lstStyle/>
                    <a:p>
                      <a:pPr>
                        <a:defRPr sz="1300">
                          <a:solidFill>
                            <a:srgbClr val="16232B"/>
                          </a:solidFill>
                          <a:latin typeface="Calibri"/>
                        </a:defRPr>
                      </a:pPr>
                      <a:r>
                        <a:t>HU-06 Búsqueda por voz</a:t>
                      </a:r>
                    </a:p>
                  </a:txBody>
                  <a:tcPr marL="76200" marR="76200" marT="25400" marB="25400" anchor="ctr">
                    <a:solidFill>
                      <a:srgbClr val="F3F6F4"/>
                    </a:solidFill>
                  </a:tcPr>
                </a:tc>
                <a:tc>
                  <a:txBody>
                    <a:bodyPr/>
                    <a:lstStyle/>
                    <a:p>
                      <a:pPr>
                        <a:defRPr sz="1300">
                          <a:solidFill>
                            <a:srgbClr val="16232B"/>
                          </a:solidFill>
                          <a:latin typeface="Calibri"/>
                        </a:defRPr>
                      </a:pPr>
                      <a:r>
                        <a:t>Web</a:t>
                      </a:r>
                    </a:p>
                  </a:txBody>
                  <a:tcPr marL="76200" marR="76200" marT="25400" marB="25400" anchor="ctr">
                    <a:solidFill>
                      <a:srgbClr val="F3F6F4"/>
                    </a:solidFill>
                  </a:tcPr>
                </a:tc>
                <a:tc>
                  <a:txBody>
                    <a:bodyPr/>
                    <a:lstStyle/>
                    <a:p>
                      <a:pPr>
                        <a:defRPr sz="1300">
                          <a:solidFill>
                            <a:srgbClr val="16232B"/>
                          </a:solidFill>
                          <a:latin typeface="Calibri"/>
                        </a:defRPr>
                      </a:pPr>
                      <a:r>
                        <a:t>Dentro</a:t>
                      </a:r>
                    </a:p>
                  </a:txBody>
                  <a:tcPr marL="76200" marR="76200" marT="25400" marB="25400" anchor="ctr">
                    <a:solidFill>
                      <a:srgbClr val="F3F6F4"/>
                    </a:solidFill>
                  </a:tcPr>
                </a:tc>
                <a:extLst>
                  <a:ext uri="{0D108BD9-81ED-4DB2-BD59-A6C34878D82A}">
                    <a16:rowId xmlns:a16="http://schemas.microsoft.com/office/drawing/2014/main" val="10005"/>
                  </a:ext>
                </a:extLst>
              </a:tr>
              <a:tr h="445770">
                <a:tc>
                  <a:txBody>
                    <a:bodyPr/>
                    <a:lstStyle/>
                    <a:p>
                      <a:pPr>
                        <a:defRPr sz="1300">
                          <a:solidFill>
                            <a:srgbClr val="16232B"/>
                          </a:solidFill>
                          <a:latin typeface="Calibri"/>
                        </a:defRPr>
                      </a:pPr>
                      <a:r>
                        <a:t>HU-05 Cierre digital</a:t>
                      </a:r>
                    </a:p>
                  </a:txBody>
                  <a:tcPr marL="76200" marR="76200" marT="25400" marB="25400" anchor="ctr">
                    <a:solidFill>
                      <a:srgbClr val="FFFFFF"/>
                    </a:solidFill>
                  </a:tcPr>
                </a:tc>
                <a:tc>
                  <a:txBody>
                    <a:bodyPr/>
                    <a:lstStyle/>
                    <a:p>
                      <a:pPr>
                        <a:defRPr sz="1300">
                          <a:solidFill>
                            <a:srgbClr val="16232B"/>
                          </a:solidFill>
                          <a:latin typeface="Calibri"/>
                        </a:defRPr>
                      </a:pPr>
                      <a:r>
                        <a:t>—</a:t>
                      </a:r>
                    </a:p>
                  </a:txBody>
                  <a:tcPr marL="76200" marR="76200" marT="25400" marB="25400" anchor="ctr">
                    <a:solidFill>
                      <a:srgbClr val="FFFFFF"/>
                    </a:solidFill>
                  </a:tcPr>
                </a:tc>
                <a:tc>
                  <a:txBody>
                    <a:bodyPr/>
                    <a:lstStyle/>
                    <a:p>
                      <a:pPr>
                        <a:defRPr sz="1300">
                          <a:solidFill>
                            <a:srgbClr val="16232B"/>
                          </a:solidFill>
                          <a:latin typeface="Calibri"/>
                        </a:defRPr>
                      </a:pPr>
                      <a:r>
                        <a:t>Fuera (próximo sprint)</a:t>
                      </a:r>
                    </a:p>
                  </a:txBody>
                  <a:tcPr marL="76200" marR="76200" marT="25400" marB="25400" anchor="ctr">
                    <a:solidFill>
                      <a:srgbClr val="FFFFFF"/>
                    </a:solidFill>
                  </a:tcPr>
                </a:tc>
                <a:extLst>
                  <a:ext uri="{0D108BD9-81ED-4DB2-BD59-A6C34878D82A}">
                    <a16:rowId xmlns:a16="http://schemas.microsoft.com/office/drawing/2014/main" val="10006"/>
                  </a:ext>
                </a:extLst>
              </a:tr>
              <a:tr h="445770">
                <a:tc>
                  <a:txBody>
                    <a:bodyPr/>
                    <a:lstStyle/>
                    <a:p>
                      <a:pPr>
                        <a:defRPr sz="1300">
                          <a:solidFill>
                            <a:srgbClr val="16232B"/>
                          </a:solidFill>
                          <a:latin typeface="Calibri"/>
                        </a:defRPr>
                      </a:pPr>
                      <a:r>
                        <a:t>HU-07 Controles de flujo</a:t>
                      </a:r>
                    </a:p>
                  </a:txBody>
                  <a:tcPr marL="76200" marR="76200" marT="25400" marB="25400" anchor="ctr">
                    <a:solidFill>
                      <a:srgbClr val="F3F6F4"/>
                    </a:solidFill>
                  </a:tcPr>
                </a:tc>
                <a:tc>
                  <a:txBody>
                    <a:bodyPr/>
                    <a:lstStyle/>
                    <a:p>
                      <a:pPr>
                        <a:defRPr sz="1300">
                          <a:solidFill>
                            <a:srgbClr val="16232B"/>
                          </a:solidFill>
                          <a:latin typeface="Calibri"/>
                        </a:defRPr>
                      </a:pPr>
                      <a:r>
                        <a:t>—</a:t>
                      </a:r>
                    </a:p>
                  </a:txBody>
                  <a:tcPr marL="76200" marR="76200" marT="25400" marB="25400" anchor="ctr">
                    <a:solidFill>
                      <a:srgbClr val="F3F6F4"/>
                    </a:solidFill>
                  </a:tcPr>
                </a:tc>
                <a:tc>
                  <a:txBody>
                    <a:bodyPr/>
                    <a:lstStyle/>
                    <a:p>
                      <a:pPr>
                        <a:defRPr sz="1300">
                          <a:solidFill>
                            <a:srgbClr val="16232B"/>
                          </a:solidFill>
                          <a:latin typeface="Calibri"/>
                        </a:defRPr>
                      </a:pPr>
                      <a:r>
                        <a:t>Fuera (próximo sprint)</a:t>
                      </a:r>
                    </a:p>
                  </a:txBody>
                  <a:tcPr marL="76200" marR="76200" marT="25400" marB="25400" anchor="ctr">
                    <a:solidFill>
                      <a:srgbClr val="F3F6F4"/>
                    </a:solidFill>
                  </a:tcPr>
                </a:tc>
                <a:extLst>
                  <a:ext uri="{0D108BD9-81ED-4DB2-BD59-A6C34878D82A}">
                    <a16:rowId xmlns:a16="http://schemas.microsoft.com/office/drawing/2014/main" val="10007"/>
                  </a:ext>
                </a:extLst>
              </a:tr>
            </a:tbl>
          </a:graphicData>
        </a:graphic>
      </p:graphicFrame>
      <p:sp>
        <p:nvSpPr>
          <p:cNvPr id="6" name="Rectangle 5"/>
          <p:cNvSpPr/>
          <p:nvPr/>
        </p:nvSpPr>
        <p:spPr>
          <a:xfrm>
            <a:off x="0" y="6528816"/>
            <a:ext cx="12191695" cy="18288"/>
          </a:xfrm>
          <a:prstGeom prst="rect">
            <a:avLst/>
          </a:prstGeom>
          <a:solidFill>
            <a:srgbClr val="C9D2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7315200" cy="274320"/>
          </a:xfrm>
          <a:prstGeom prst="rect">
            <a:avLst/>
          </a:prstGeom>
          <a:noFill/>
        </p:spPr>
        <p:txBody>
          <a:bodyPr wrap="square" lIns="0" tIns="0" rIns="0" bIns="0" anchor="t">
            <a:spAutoFit/>
          </a:bodyPr>
          <a:lstStyle/>
          <a:p>
            <a:pPr algn="l">
              <a:lnSpc>
                <a:spcPct val="100000"/>
              </a:lnSpc>
            </a:pPr>
            <a:r>
              <a:rPr sz="900" b="0" i="0">
                <a:solidFill>
                  <a:srgbClr val="57666C"/>
                </a:solidFill>
                <a:latin typeface="Calibri"/>
              </a:rPr>
              <a:t>FoodVoice · AINC422 · Semana 4</a:t>
            </a:r>
          </a:p>
        </p:txBody>
      </p:sp>
      <p:sp>
        <p:nvSpPr>
          <p:cNvPr id="8" name="TextBox 7"/>
          <p:cNvSpPr txBox="1"/>
          <p:nvPr/>
        </p:nvSpPr>
        <p:spPr>
          <a:xfrm>
            <a:off x="11094415" y="6583680"/>
            <a:ext cx="640080" cy="274320"/>
          </a:xfrm>
          <a:prstGeom prst="rect">
            <a:avLst/>
          </a:prstGeom>
          <a:noFill/>
        </p:spPr>
        <p:txBody>
          <a:bodyPr wrap="square" lIns="0" tIns="0" rIns="0" bIns="0" anchor="t">
            <a:spAutoFit/>
          </a:bodyPr>
          <a:lstStyle/>
          <a:p>
            <a:pPr algn="r">
              <a:lnSpc>
                <a:spcPct val="100000"/>
              </a:lnSpc>
            </a:pPr>
            <a:r>
              <a:rPr sz="900" b="0" i="0">
                <a:solidFill>
                  <a:srgbClr val="57666C"/>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6F4"/>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lgn="l">
              <a:lnSpc>
                <a:spcPct val="100000"/>
              </a:lnSpc>
            </a:pPr>
            <a:r>
              <a:rPr sz="1200" b="1" i="0">
                <a:solidFill>
                  <a:srgbClr val="D9821F"/>
                </a:solidFill>
                <a:latin typeface="Calibri"/>
              </a:rPr>
              <a:t>REQUERIMIENTOS Y ALCANCE</a:t>
            </a:r>
          </a:p>
        </p:txBody>
      </p:sp>
      <p:sp>
        <p:nvSpPr>
          <p:cNvPr id="3" name="TextBox 2"/>
          <p:cNvSpPr txBox="1"/>
          <p:nvPr/>
        </p:nvSpPr>
        <p:spPr>
          <a:xfrm>
            <a:off x="548640" y="704088"/>
            <a:ext cx="11064240" cy="640080"/>
          </a:xfrm>
          <a:prstGeom prst="rect">
            <a:avLst/>
          </a:prstGeom>
          <a:noFill/>
        </p:spPr>
        <p:txBody>
          <a:bodyPr wrap="square" lIns="0" tIns="0" rIns="0" bIns="0" anchor="t">
            <a:spAutoFit/>
          </a:bodyPr>
          <a:lstStyle/>
          <a:p>
            <a:pPr algn="l">
              <a:lnSpc>
                <a:spcPct val="100000"/>
              </a:lnSpc>
            </a:pPr>
            <a:r>
              <a:rPr sz="2800" b="1" i="0">
                <a:solidFill>
                  <a:srgbClr val="16232B"/>
                </a:solidFill>
                <a:latin typeface="Calibri"/>
              </a:rPr>
              <a:t>Cronograma del proyecto</a:t>
            </a:r>
          </a:p>
        </p:txBody>
      </p:sp>
      <p:sp>
        <p:nvSpPr>
          <p:cNvPr id="4" name="Rectangle 3"/>
          <p:cNvSpPr/>
          <p:nvPr/>
        </p:nvSpPr>
        <p:spPr>
          <a:xfrm>
            <a:off x="548640" y="1271016"/>
            <a:ext cx="2743200" cy="27432"/>
          </a:xfrm>
          <a:prstGeom prst="rect">
            <a:avLst/>
          </a:prstGeom>
          <a:solidFill>
            <a:srgbClr val="D9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48640" y="1545336"/>
          <a:ext cx="11064238" cy="4160520"/>
        </p:xfrm>
        <a:graphic>
          <a:graphicData uri="http://schemas.openxmlformats.org/drawingml/2006/table">
            <a:tbl>
              <a:tblPr firstRow="1" bandRow="1">
                <a:tableStyleId>{5C22544A-7EE6-4342-B048-85BDC9FD1C3A}</a:tableStyleId>
              </a:tblPr>
              <a:tblGrid>
                <a:gridCol w="1202634">
                  <a:extLst>
                    <a:ext uri="{9D8B030D-6E8A-4147-A177-3AD203B41FA5}">
                      <a16:colId xmlns:a16="http://schemas.microsoft.com/office/drawing/2014/main" val="20000"/>
                    </a:ext>
                  </a:extLst>
                </a:gridCol>
                <a:gridCol w="2886323">
                  <a:extLst>
                    <a:ext uri="{9D8B030D-6E8A-4147-A177-3AD203B41FA5}">
                      <a16:colId xmlns:a16="http://schemas.microsoft.com/office/drawing/2014/main" val="20001"/>
                    </a:ext>
                  </a:extLst>
                </a:gridCol>
                <a:gridCol w="5532120">
                  <a:extLst>
                    <a:ext uri="{9D8B030D-6E8A-4147-A177-3AD203B41FA5}">
                      <a16:colId xmlns:a16="http://schemas.microsoft.com/office/drawing/2014/main" val="20002"/>
                    </a:ext>
                  </a:extLst>
                </a:gridCol>
                <a:gridCol w="1443161">
                  <a:extLst>
                    <a:ext uri="{9D8B030D-6E8A-4147-A177-3AD203B41FA5}">
                      <a16:colId xmlns:a16="http://schemas.microsoft.com/office/drawing/2014/main" val="20003"/>
                    </a:ext>
                  </a:extLst>
                </a:gridCol>
              </a:tblGrid>
              <a:tr h="320040">
                <a:tc>
                  <a:txBody>
                    <a:bodyPr/>
                    <a:lstStyle/>
                    <a:p>
                      <a:pPr>
                        <a:defRPr sz="1050" b="1">
                          <a:solidFill>
                            <a:srgbClr val="FFFFFF"/>
                          </a:solidFill>
                          <a:latin typeface="Calibri"/>
                        </a:defRPr>
                      </a:pPr>
                      <a:r>
                        <a:t>Semana</a:t>
                      </a:r>
                    </a:p>
                  </a:txBody>
                  <a:tcPr marL="76200" marR="76200" marT="38100" marB="38100" anchor="ctr">
                    <a:solidFill>
                      <a:srgbClr val="16232B"/>
                    </a:solidFill>
                  </a:tcPr>
                </a:tc>
                <a:tc>
                  <a:txBody>
                    <a:bodyPr/>
                    <a:lstStyle/>
                    <a:p>
                      <a:pPr>
                        <a:defRPr sz="1050" b="1">
                          <a:solidFill>
                            <a:srgbClr val="FFFFFF"/>
                          </a:solidFill>
                          <a:latin typeface="Calibri"/>
                        </a:defRPr>
                      </a:pPr>
                      <a:r>
                        <a:t>Evento Scrum</a:t>
                      </a:r>
                    </a:p>
                  </a:txBody>
                  <a:tcPr marL="76200" marR="76200" marT="38100" marB="38100" anchor="ctr">
                    <a:solidFill>
                      <a:srgbClr val="16232B"/>
                    </a:solidFill>
                  </a:tcPr>
                </a:tc>
                <a:tc>
                  <a:txBody>
                    <a:bodyPr/>
                    <a:lstStyle/>
                    <a:p>
                      <a:pPr>
                        <a:defRPr sz="1050" b="1">
                          <a:solidFill>
                            <a:srgbClr val="FFFFFF"/>
                          </a:solidFill>
                          <a:latin typeface="Calibri"/>
                        </a:defRPr>
                      </a:pPr>
                      <a:r>
                        <a:t>Entregable de desarrollo</a:t>
                      </a:r>
                    </a:p>
                  </a:txBody>
                  <a:tcPr marL="76200" marR="76200" marT="38100" marB="38100" anchor="ctr">
                    <a:solidFill>
                      <a:srgbClr val="16232B"/>
                    </a:solidFill>
                  </a:tcPr>
                </a:tc>
                <a:tc>
                  <a:txBody>
                    <a:bodyPr/>
                    <a:lstStyle/>
                    <a:p>
                      <a:pPr>
                        <a:defRPr sz="1050" b="1">
                          <a:solidFill>
                            <a:srgbClr val="FFFFFF"/>
                          </a:solidFill>
                          <a:latin typeface="Calibri"/>
                        </a:defRPr>
                      </a:pPr>
                      <a:r>
                        <a:t>Hito</a:t>
                      </a:r>
                    </a:p>
                  </a:txBody>
                  <a:tcPr marL="76200" marR="76200" marT="38100" marB="38100" anchor="ctr">
                    <a:solidFill>
                      <a:srgbClr val="16232B"/>
                    </a:solidFill>
                  </a:tcPr>
                </a:tc>
                <a:extLst>
                  <a:ext uri="{0D108BD9-81ED-4DB2-BD59-A6C34878D82A}">
                    <a16:rowId xmlns:a16="http://schemas.microsoft.com/office/drawing/2014/main" val="10000"/>
                  </a:ext>
                </a:extLst>
              </a:tr>
              <a:tr h="320040">
                <a:tc>
                  <a:txBody>
                    <a:bodyPr/>
                    <a:lstStyle/>
                    <a:p>
                      <a:pPr>
                        <a:defRPr sz="1050">
                          <a:solidFill>
                            <a:srgbClr val="16232B"/>
                          </a:solidFill>
                          <a:latin typeface="Calibri"/>
                        </a:defRPr>
                      </a:pPr>
                      <a:r>
                        <a:t>1</a:t>
                      </a:r>
                    </a:p>
                  </a:txBody>
                  <a:tcPr marL="76200" marR="76200" marT="25400" marB="25400" anchor="ctr">
                    <a:solidFill>
                      <a:srgbClr val="F3F6F4"/>
                    </a:solidFill>
                  </a:tcPr>
                </a:tc>
                <a:tc>
                  <a:txBody>
                    <a:bodyPr/>
                    <a:lstStyle/>
                    <a:p>
                      <a:pPr>
                        <a:defRPr sz="1050">
                          <a:solidFill>
                            <a:srgbClr val="16232B"/>
                          </a:solidFill>
                          <a:latin typeface="Calibri"/>
                        </a:defRPr>
                      </a:pPr>
                      <a:r>
                        <a:t>Sprint 0</a:t>
                      </a:r>
                    </a:p>
                  </a:txBody>
                  <a:tcPr marL="76200" marR="76200" marT="25400" marB="25400" anchor="ctr">
                    <a:solidFill>
                      <a:srgbClr val="F3F6F4"/>
                    </a:solidFill>
                  </a:tcPr>
                </a:tc>
                <a:tc>
                  <a:txBody>
                    <a:bodyPr/>
                    <a:lstStyle/>
                    <a:p>
                      <a:pPr>
                        <a:defRPr sz="1050">
                          <a:solidFill>
                            <a:srgbClr val="16232B"/>
                          </a:solidFill>
                          <a:latin typeface="Calibri"/>
                        </a:defRPr>
                      </a:pPr>
                      <a:r>
                        <a:t>Product Backlog inicial (borrador)</a:t>
                      </a:r>
                    </a:p>
                  </a:txBody>
                  <a:tcPr marL="76200" marR="76200" marT="25400" marB="25400" anchor="ctr">
                    <a:solidFill>
                      <a:srgbClr val="F3F6F4"/>
                    </a:solidFill>
                  </a:tcPr>
                </a:tc>
                <a:tc>
                  <a:txBody>
                    <a:bodyPr/>
                    <a:lstStyle/>
                    <a:p>
                      <a:pPr>
                        <a:defRPr sz="1050">
                          <a:solidFill>
                            <a:srgbClr val="16232B"/>
                          </a:solidFill>
                          <a:latin typeface="Calibri"/>
                        </a:defRPr>
                      </a:pPr>
                      <a:r>
                        <a:t>—</a:t>
                      </a:r>
                    </a:p>
                  </a:txBody>
                  <a:tcPr marL="76200" marR="76200" marT="25400" marB="25400" anchor="ctr">
                    <a:solidFill>
                      <a:srgbClr val="F3F6F4"/>
                    </a:solidFill>
                  </a:tcPr>
                </a:tc>
                <a:extLst>
                  <a:ext uri="{0D108BD9-81ED-4DB2-BD59-A6C34878D82A}">
                    <a16:rowId xmlns:a16="http://schemas.microsoft.com/office/drawing/2014/main" val="10001"/>
                  </a:ext>
                </a:extLst>
              </a:tr>
              <a:tr h="320040">
                <a:tc>
                  <a:txBody>
                    <a:bodyPr/>
                    <a:lstStyle/>
                    <a:p>
                      <a:pPr>
                        <a:defRPr sz="1050">
                          <a:solidFill>
                            <a:srgbClr val="16232B"/>
                          </a:solidFill>
                          <a:latin typeface="Calibri"/>
                        </a:defRPr>
                      </a:pPr>
                      <a:r>
                        <a:t>2</a:t>
                      </a:r>
                    </a:p>
                  </a:txBody>
                  <a:tcPr marL="76200" marR="76200" marT="25400" marB="25400" anchor="ctr">
                    <a:solidFill>
                      <a:srgbClr val="FFFFFF"/>
                    </a:solidFill>
                  </a:tcPr>
                </a:tc>
                <a:tc>
                  <a:txBody>
                    <a:bodyPr/>
                    <a:lstStyle/>
                    <a:p>
                      <a:pPr>
                        <a:defRPr sz="1050">
                          <a:solidFill>
                            <a:srgbClr val="16232B"/>
                          </a:solidFill>
                          <a:latin typeface="Calibri"/>
                        </a:defRPr>
                      </a:pPr>
                      <a:r>
                        <a:t>Sprint 0</a:t>
                      </a:r>
                    </a:p>
                  </a:txBody>
                  <a:tcPr marL="76200" marR="76200" marT="25400" marB="25400" anchor="ctr">
                    <a:solidFill>
                      <a:srgbClr val="FFFFFF"/>
                    </a:solidFill>
                  </a:tcPr>
                </a:tc>
                <a:tc>
                  <a:txBody>
                    <a:bodyPr/>
                    <a:lstStyle/>
                    <a:p>
                      <a:pPr>
                        <a:defRPr sz="1050">
                          <a:solidFill>
                            <a:srgbClr val="16232B"/>
                          </a:solidFill>
                          <a:latin typeface="Calibri"/>
                        </a:defRPr>
                      </a:pPr>
                      <a:r>
                        <a:t>Refinamiento del backlog</a:t>
                      </a:r>
                    </a:p>
                  </a:txBody>
                  <a:tcPr marL="76200" marR="76200" marT="25400" marB="25400" anchor="ctr">
                    <a:solidFill>
                      <a:srgbClr val="FFFFFF"/>
                    </a:solidFill>
                  </a:tcPr>
                </a:tc>
                <a:tc>
                  <a:txBody>
                    <a:bodyPr/>
                    <a:lstStyle/>
                    <a:p>
                      <a:pPr>
                        <a:defRPr sz="1050">
                          <a:solidFill>
                            <a:srgbClr val="16232B"/>
                          </a:solidFill>
                          <a:latin typeface="Calibri"/>
                        </a:defRPr>
                      </a:pPr>
                      <a:r>
                        <a:t>—</a:t>
                      </a:r>
                    </a:p>
                  </a:txBody>
                  <a:tcPr marL="76200" marR="76200" marT="25400" marB="25400" anchor="ctr">
                    <a:solidFill>
                      <a:srgbClr val="FFFFFF"/>
                    </a:solidFill>
                  </a:tcPr>
                </a:tc>
                <a:extLst>
                  <a:ext uri="{0D108BD9-81ED-4DB2-BD59-A6C34878D82A}">
                    <a16:rowId xmlns:a16="http://schemas.microsoft.com/office/drawing/2014/main" val="10002"/>
                  </a:ext>
                </a:extLst>
              </a:tr>
              <a:tr h="320040">
                <a:tc>
                  <a:txBody>
                    <a:bodyPr/>
                    <a:lstStyle/>
                    <a:p>
                      <a:pPr>
                        <a:defRPr sz="1050">
                          <a:solidFill>
                            <a:srgbClr val="16232B"/>
                          </a:solidFill>
                          <a:latin typeface="Calibri"/>
                        </a:defRPr>
                      </a:pPr>
                      <a:r>
                        <a:t>3</a:t>
                      </a:r>
                    </a:p>
                  </a:txBody>
                  <a:tcPr marL="76200" marR="76200" marT="25400" marB="25400" anchor="ctr">
                    <a:solidFill>
                      <a:srgbClr val="F3F6F4"/>
                    </a:solidFill>
                  </a:tcPr>
                </a:tc>
                <a:tc>
                  <a:txBody>
                    <a:bodyPr/>
                    <a:lstStyle/>
                    <a:p>
                      <a:pPr>
                        <a:defRPr sz="1050">
                          <a:solidFill>
                            <a:srgbClr val="16232B"/>
                          </a:solidFill>
                          <a:latin typeface="Calibri"/>
                        </a:defRPr>
                      </a:pPr>
                      <a:r>
                        <a:t>Sprint 0</a:t>
                      </a:r>
                    </a:p>
                  </a:txBody>
                  <a:tcPr marL="76200" marR="76200" marT="25400" marB="25400" anchor="ctr">
                    <a:solidFill>
                      <a:srgbClr val="F3F6F4"/>
                    </a:solidFill>
                  </a:tcPr>
                </a:tc>
                <a:tc>
                  <a:txBody>
                    <a:bodyPr/>
                    <a:lstStyle/>
                    <a:p>
                      <a:pPr>
                        <a:defRPr sz="1050">
                          <a:solidFill>
                            <a:srgbClr val="16232B"/>
                          </a:solidFill>
                          <a:latin typeface="Calibri"/>
                        </a:defRPr>
                      </a:pPr>
                      <a:r>
                        <a:t>Objetivos y métricas validados</a:t>
                      </a:r>
                    </a:p>
                  </a:txBody>
                  <a:tcPr marL="76200" marR="76200" marT="25400" marB="25400" anchor="ctr">
                    <a:solidFill>
                      <a:srgbClr val="F3F6F4"/>
                    </a:solidFill>
                  </a:tcPr>
                </a:tc>
                <a:tc>
                  <a:txBody>
                    <a:bodyPr/>
                    <a:lstStyle/>
                    <a:p>
                      <a:pPr>
                        <a:defRPr sz="1050">
                          <a:solidFill>
                            <a:srgbClr val="16232B"/>
                          </a:solidFill>
                          <a:latin typeface="Calibri"/>
                        </a:defRPr>
                      </a:pPr>
                      <a:r>
                        <a:t>—</a:t>
                      </a:r>
                    </a:p>
                  </a:txBody>
                  <a:tcPr marL="76200" marR="76200" marT="25400" marB="25400" anchor="ctr">
                    <a:solidFill>
                      <a:srgbClr val="F3F6F4"/>
                    </a:solidFill>
                  </a:tcPr>
                </a:tc>
                <a:extLst>
                  <a:ext uri="{0D108BD9-81ED-4DB2-BD59-A6C34878D82A}">
                    <a16:rowId xmlns:a16="http://schemas.microsoft.com/office/drawing/2014/main" val="10003"/>
                  </a:ext>
                </a:extLst>
              </a:tr>
              <a:tr h="320040">
                <a:tc>
                  <a:txBody>
                    <a:bodyPr/>
                    <a:lstStyle/>
                    <a:p>
                      <a:pPr>
                        <a:defRPr sz="1050">
                          <a:solidFill>
                            <a:srgbClr val="16232B"/>
                          </a:solidFill>
                          <a:latin typeface="Calibri"/>
                        </a:defRPr>
                      </a:pPr>
                      <a:r>
                        <a:t>4</a:t>
                      </a:r>
                    </a:p>
                  </a:txBody>
                  <a:tcPr marL="76200" marR="76200" marT="25400" marB="25400" anchor="ctr">
                    <a:solidFill>
                      <a:srgbClr val="FFFFFF"/>
                    </a:solidFill>
                  </a:tcPr>
                </a:tc>
                <a:tc>
                  <a:txBody>
                    <a:bodyPr/>
                    <a:lstStyle/>
                    <a:p>
                      <a:pPr>
                        <a:defRPr sz="1050">
                          <a:solidFill>
                            <a:srgbClr val="16232B"/>
                          </a:solidFill>
                          <a:latin typeface="Calibri"/>
                        </a:defRPr>
                      </a:pPr>
                      <a:r>
                        <a:t>Sprint 0 · Review</a:t>
                      </a:r>
                    </a:p>
                  </a:txBody>
                  <a:tcPr marL="76200" marR="76200" marT="25400" marB="25400" anchor="ctr">
                    <a:solidFill>
                      <a:srgbClr val="FFFFFF"/>
                    </a:solidFill>
                  </a:tcPr>
                </a:tc>
                <a:tc>
                  <a:txBody>
                    <a:bodyPr/>
                    <a:lstStyle/>
                    <a:p>
                      <a:pPr>
                        <a:defRPr sz="1050">
                          <a:solidFill>
                            <a:srgbClr val="16232B"/>
                          </a:solidFill>
                          <a:latin typeface="Calibri"/>
                        </a:defRPr>
                      </a:pPr>
                      <a:r>
                        <a:t>Informe 1 (Sumativa 1)</a:t>
                      </a:r>
                    </a:p>
                  </a:txBody>
                  <a:tcPr marL="76200" marR="76200" marT="25400" marB="25400" anchor="ctr">
                    <a:solidFill>
                      <a:srgbClr val="FFFFFF"/>
                    </a:solidFill>
                  </a:tcPr>
                </a:tc>
                <a:tc>
                  <a:txBody>
                    <a:bodyPr/>
                    <a:lstStyle/>
                    <a:p>
                      <a:pPr>
                        <a:defRPr sz="1050">
                          <a:solidFill>
                            <a:srgbClr val="16232B"/>
                          </a:solidFill>
                          <a:latin typeface="Calibri"/>
                        </a:defRPr>
                      </a:pPr>
                      <a:r>
                        <a:t>Hito 1</a:t>
                      </a:r>
                    </a:p>
                  </a:txBody>
                  <a:tcPr marL="76200" marR="76200" marT="25400" marB="25400" anchor="ctr">
                    <a:solidFill>
                      <a:srgbClr val="FFFFFF"/>
                    </a:solidFill>
                  </a:tcPr>
                </a:tc>
                <a:extLst>
                  <a:ext uri="{0D108BD9-81ED-4DB2-BD59-A6C34878D82A}">
                    <a16:rowId xmlns:a16="http://schemas.microsoft.com/office/drawing/2014/main" val="10004"/>
                  </a:ext>
                </a:extLst>
              </a:tr>
              <a:tr h="320040">
                <a:tc>
                  <a:txBody>
                    <a:bodyPr/>
                    <a:lstStyle/>
                    <a:p>
                      <a:pPr>
                        <a:defRPr sz="1050">
                          <a:solidFill>
                            <a:srgbClr val="16232B"/>
                          </a:solidFill>
                          <a:latin typeface="Calibri"/>
                        </a:defRPr>
                      </a:pPr>
                      <a:r>
                        <a:t>5</a:t>
                      </a:r>
                    </a:p>
                  </a:txBody>
                  <a:tcPr marL="76200" marR="76200" marT="25400" marB="25400" anchor="ctr">
                    <a:solidFill>
                      <a:srgbClr val="F3F6F4"/>
                    </a:solidFill>
                  </a:tcPr>
                </a:tc>
                <a:tc>
                  <a:txBody>
                    <a:bodyPr/>
                    <a:lstStyle/>
                    <a:p>
                      <a:pPr>
                        <a:defRPr sz="1050">
                          <a:solidFill>
                            <a:srgbClr val="16232B"/>
                          </a:solidFill>
                          <a:latin typeface="Calibri"/>
                        </a:defRPr>
                      </a:pPr>
                      <a:r>
                        <a:t>Sprint 1 · Planning</a:t>
                      </a:r>
                    </a:p>
                  </a:txBody>
                  <a:tcPr marL="76200" marR="76200" marT="25400" marB="25400" anchor="ctr">
                    <a:solidFill>
                      <a:srgbClr val="F3F6F4"/>
                    </a:solidFill>
                  </a:tcPr>
                </a:tc>
                <a:tc>
                  <a:txBody>
                    <a:bodyPr/>
                    <a:lstStyle/>
                    <a:p>
                      <a:pPr>
                        <a:defRPr sz="1050">
                          <a:solidFill>
                            <a:srgbClr val="16232B"/>
                          </a:solidFill>
                          <a:latin typeface="Calibri"/>
                        </a:defRPr>
                      </a:pPr>
                      <a:r>
                        <a:t>Arquitectura y diseño técnico</a:t>
                      </a:r>
                    </a:p>
                  </a:txBody>
                  <a:tcPr marL="76200" marR="76200" marT="25400" marB="25400" anchor="ctr">
                    <a:solidFill>
                      <a:srgbClr val="F3F6F4"/>
                    </a:solidFill>
                  </a:tcPr>
                </a:tc>
                <a:tc>
                  <a:txBody>
                    <a:bodyPr/>
                    <a:lstStyle/>
                    <a:p>
                      <a:pPr>
                        <a:defRPr sz="1050">
                          <a:solidFill>
                            <a:srgbClr val="16232B"/>
                          </a:solidFill>
                          <a:latin typeface="Calibri"/>
                        </a:defRPr>
                      </a:pPr>
                      <a:r>
                        <a:t>—</a:t>
                      </a:r>
                    </a:p>
                  </a:txBody>
                  <a:tcPr marL="76200" marR="76200" marT="25400" marB="25400" anchor="ctr">
                    <a:solidFill>
                      <a:srgbClr val="F3F6F4"/>
                    </a:solidFill>
                  </a:tcPr>
                </a:tc>
                <a:extLst>
                  <a:ext uri="{0D108BD9-81ED-4DB2-BD59-A6C34878D82A}">
                    <a16:rowId xmlns:a16="http://schemas.microsoft.com/office/drawing/2014/main" val="10005"/>
                  </a:ext>
                </a:extLst>
              </a:tr>
              <a:tr h="320040">
                <a:tc>
                  <a:txBody>
                    <a:bodyPr/>
                    <a:lstStyle/>
                    <a:p>
                      <a:pPr>
                        <a:defRPr sz="1050">
                          <a:solidFill>
                            <a:srgbClr val="16232B"/>
                          </a:solidFill>
                          <a:latin typeface="Calibri"/>
                        </a:defRPr>
                      </a:pPr>
                      <a:r>
                        <a:t>6</a:t>
                      </a:r>
                    </a:p>
                  </a:txBody>
                  <a:tcPr marL="76200" marR="76200" marT="25400" marB="25400" anchor="ctr">
                    <a:solidFill>
                      <a:srgbClr val="FFFFFF"/>
                    </a:solidFill>
                  </a:tcPr>
                </a:tc>
                <a:tc>
                  <a:txBody>
                    <a:bodyPr/>
                    <a:lstStyle/>
                    <a:p>
                      <a:pPr>
                        <a:defRPr sz="1050">
                          <a:solidFill>
                            <a:srgbClr val="16232B"/>
                          </a:solidFill>
                          <a:latin typeface="Calibri"/>
                        </a:defRPr>
                      </a:pPr>
                      <a:r>
                        <a:t>Sprint 1 · Retro</a:t>
                      </a:r>
                    </a:p>
                  </a:txBody>
                  <a:tcPr marL="76200" marR="76200" marT="25400" marB="25400" anchor="ctr">
                    <a:solidFill>
                      <a:srgbClr val="FFFFFF"/>
                    </a:solidFill>
                  </a:tcPr>
                </a:tc>
                <a:tc>
                  <a:txBody>
                    <a:bodyPr/>
                    <a:lstStyle/>
                    <a:p>
                      <a:pPr>
                        <a:defRPr sz="1050">
                          <a:solidFill>
                            <a:srgbClr val="16232B"/>
                          </a:solidFill>
                          <a:latin typeface="Calibri"/>
                        </a:defRPr>
                      </a:pPr>
                      <a:r>
                        <a:t>Prototipo de interfaces</a:t>
                      </a:r>
                    </a:p>
                  </a:txBody>
                  <a:tcPr marL="76200" marR="76200" marT="25400" marB="25400" anchor="ctr">
                    <a:solidFill>
                      <a:srgbClr val="FFFFFF"/>
                    </a:solidFill>
                  </a:tcPr>
                </a:tc>
                <a:tc>
                  <a:txBody>
                    <a:bodyPr/>
                    <a:lstStyle/>
                    <a:p>
                      <a:pPr>
                        <a:defRPr sz="1050">
                          <a:solidFill>
                            <a:srgbClr val="16232B"/>
                          </a:solidFill>
                          <a:latin typeface="Calibri"/>
                        </a:defRPr>
                      </a:pPr>
                      <a:r>
                        <a:t>—</a:t>
                      </a:r>
                    </a:p>
                  </a:txBody>
                  <a:tcPr marL="76200" marR="76200" marT="25400" marB="25400" anchor="ctr">
                    <a:solidFill>
                      <a:srgbClr val="FFFFFF"/>
                    </a:solidFill>
                  </a:tcPr>
                </a:tc>
                <a:extLst>
                  <a:ext uri="{0D108BD9-81ED-4DB2-BD59-A6C34878D82A}">
                    <a16:rowId xmlns:a16="http://schemas.microsoft.com/office/drawing/2014/main" val="10006"/>
                  </a:ext>
                </a:extLst>
              </a:tr>
              <a:tr h="320040">
                <a:tc>
                  <a:txBody>
                    <a:bodyPr/>
                    <a:lstStyle/>
                    <a:p>
                      <a:pPr>
                        <a:defRPr sz="1050">
                          <a:solidFill>
                            <a:srgbClr val="16232B"/>
                          </a:solidFill>
                          <a:latin typeface="Calibri"/>
                        </a:defRPr>
                      </a:pPr>
                      <a:r>
                        <a:t>7</a:t>
                      </a:r>
                    </a:p>
                  </a:txBody>
                  <a:tcPr marL="76200" marR="76200" marT="25400" marB="25400" anchor="ctr">
                    <a:solidFill>
                      <a:srgbClr val="F3F6F4"/>
                    </a:solidFill>
                  </a:tcPr>
                </a:tc>
                <a:tc>
                  <a:txBody>
                    <a:bodyPr/>
                    <a:lstStyle/>
                    <a:p>
                      <a:pPr>
                        <a:defRPr sz="1050">
                          <a:solidFill>
                            <a:srgbClr val="16232B"/>
                          </a:solidFill>
                          <a:latin typeface="Calibri"/>
                        </a:defRPr>
                      </a:pPr>
                      <a:r>
                        <a:t>Sprint 2 · Planning</a:t>
                      </a:r>
                    </a:p>
                  </a:txBody>
                  <a:tcPr marL="76200" marR="76200" marT="25400" marB="25400" anchor="ctr">
                    <a:solidFill>
                      <a:srgbClr val="F3F6F4"/>
                    </a:solidFill>
                  </a:tcPr>
                </a:tc>
                <a:tc>
                  <a:txBody>
                    <a:bodyPr/>
                    <a:lstStyle/>
                    <a:p>
                      <a:pPr>
                        <a:defRPr sz="1050">
                          <a:solidFill>
                            <a:srgbClr val="16232B"/>
                          </a:solidFill>
                          <a:latin typeface="Calibri"/>
                        </a:defRPr>
                      </a:pPr>
                      <a:r>
                        <a:t>Módulo de gestión de pedidos</a:t>
                      </a:r>
                    </a:p>
                  </a:txBody>
                  <a:tcPr marL="76200" marR="76200" marT="25400" marB="25400" anchor="ctr">
                    <a:solidFill>
                      <a:srgbClr val="F3F6F4"/>
                    </a:solidFill>
                  </a:tcPr>
                </a:tc>
                <a:tc>
                  <a:txBody>
                    <a:bodyPr/>
                    <a:lstStyle/>
                    <a:p>
                      <a:pPr>
                        <a:defRPr sz="1050">
                          <a:solidFill>
                            <a:srgbClr val="16232B"/>
                          </a:solidFill>
                          <a:latin typeface="Calibri"/>
                        </a:defRPr>
                      </a:pPr>
                      <a:r>
                        <a:t>—</a:t>
                      </a:r>
                    </a:p>
                  </a:txBody>
                  <a:tcPr marL="76200" marR="76200" marT="25400" marB="25400" anchor="ctr">
                    <a:solidFill>
                      <a:srgbClr val="F3F6F4"/>
                    </a:solidFill>
                  </a:tcPr>
                </a:tc>
                <a:extLst>
                  <a:ext uri="{0D108BD9-81ED-4DB2-BD59-A6C34878D82A}">
                    <a16:rowId xmlns:a16="http://schemas.microsoft.com/office/drawing/2014/main" val="10007"/>
                  </a:ext>
                </a:extLst>
              </a:tr>
              <a:tr h="320040">
                <a:tc>
                  <a:txBody>
                    <a:bodyPr/>
                    <a:lstStyle/>
                    <a:p>
                      <a:pPr>
                        <a:defRPr sz="1050">
                          <a:solidFill>
                            <a:srgbClr val="16232B"/>
                          </a:solidFill>
                          <a:latin typeface="Calibri"/>
                        </a:defRPr>
                      </a:pPr>
                      <a:r>
                        <a:t>8</a:t>
                      </a:r>
                    </a:p>
                  </a:txBody>
                  <a:tcPr marL="76200" marR="76200" marT="25400" marB="25400" anchor="ctr">
                    <a:solidFill>
                      <a:srgbClr val="FFFFFF"/>
                    </a:solidFill>
                  </a:tcPr>
                </a:tc>
                <a:tc>
                  <a:txBody>
                    <a:bodyPr/>
                    <a:lstStyle/>
                    <a:p>
                      <a:pPr>
                        <a:defRPr sz="1050">
                          <a:solidFill>
                            <a:srgbClr val="16232B"/>
                          </a:solidFill>
                          <a:latin typeface="Calibri"/>
                        </a:defRPr>
                      </a:pPr>
                      <a:r>
                        <a:t>Sprint 2 · Review</a:t>
                      </a:r>
                    </a:p>
                  </a:txBody>
                  <a:tcPr marL="76200" marR="76200" marT="25400" marB="25400" anchor="ctr">
                    <a:solidFill>
                      <a:srgbClr val="FFFFFF"/>
                    </a:solidFill>
                  </a:tcPr>
                </a:tc>
                <a:tc>
                  <a:txBody>
                    <a:bodyPr/>
                    <a:lstStyle/>
                    <a:p>
                      <a:pPr>
                        <a:defRPr sz="1050">
                          <a:solidFill>
                            <a:srgbClr val="16232B"/>
                          </a:solidFill>
                          <a:latin typeface="Calibri"/>
                        </a:defRPr>
                      </a:pPr>
                      <a:r>
                        <a:t>Informe de avance (Sumativa 2)</a:t>
                      </a:r>
                    </a:p>
                  </a:txBody>
                  <a:tcPr marL="76200" marR="76200" marT="25400" marB="25400" anchor="ctr">
                    <a:solidFill>
                      <a:srgbClr val="FFFFFF"/>
                    </a:solidFill>
                  </a:tcPr>
                </a:tc>
                <a:tc>
                  <a:txBody>
                    <a:bodyPr/>
                    <a:lstStyle/>
                    <a:p>
                      <a:pPr>
                        <a:defRPr sz="1050">
                          <a:solidFill>
                            <a:srgbClr val="16232B"/>
                          </a:solidFill>
                          <a:latin typeface="Calibri"/>
                        </a:defRPr>
                      </a:pPr>
                      <a:r>
                        <a:t>Hito 2</a:t>
                      </a:r>
                    </a:p>
                  </a:txBody>
                  <a:tcPr marL="76200" marR="76200" marT="25400" marB="25400" anchor="ctr">
                    <a:solidFill>
                      <a:srgbClr val="FFFFFF"/>
                    </a:solidFill>
                  </a:tcPr>
                </a:tc>
                <a:extLst>
                  <a:ext uri="{0D108BD9-81ED-4DB2-BD59-A6C34878D82A}">
                    <a16:rowId xmlns:a16="http://schemas.microsoft.com/office/drawing/2014/main" val="10008"/>
                  </a:ext>
                </a:extLst>
              </a:tr>
              <a:tr h="320040">
                <a:tc>
                  <a:txBody>
                    <a:bodyPr/>
                    <a:lstStyle/>
                    <a:p>
                      <a:pPr>
                        <a:defRPr sz="1050">
                          <a:solidFill>
                            <a:srgbClr val="16232B"/>
                          </a:solidFill>
                          <a:latin typeface="Calibri"/>
                        </a:defRPr>
                      </a:pPr>
                      <a:r>
                        <a:t>9</a:t>
                      </a:r>
                    </a:p>
                  </a:txBody>
                  <a:tcPr marL="76200" marR="76200" marT="25400" marB="25400" anchor="ctr">
                    <a:solidFill>
                      <a:srgbClr val="F3F6F4"/>
                    </a:solidFill>
                  </a:tcPr>
                </a:tc>
                <a:tc>
                  <a:txBody>
                    <a:bodyPr/>
                    <a:lstStyle/>
                    <a:p>
                      <a:pPr>
                        <a:defRPr sz="1050">
                          <a:solidFill>
                            <a:srgbClr val="16232B"/>
                          </a:solidFill>
                          <a:latin typeface="Calibri"/>
                        </a:defRPr>
                      </a:pPr>
                      <a:r>
                        <a:t>Sprint 3 · Planning</a:t>
                      </a:r>
                    </a:p>
                  </a:txBody>
                  <a:tcPr marL="76200" marR="76200" marT="25400" marB="25400" anchor="ctr">
                    <a:solidFill>
                      <a:srgbClr val="F3F6F4"/>
                    </a:solidFill>
                  </a:tcPr>
                </a:tc>
                <a:tc>
                  <a:txBody>
                    <a:bodyPr/>
                    <a:lstStyle/>
                    <a:p>
                      <a:pPr>
                        <a:defRPr sz="1050">
                          <a:solidFill>
                            <a:srgbClr val="16232B"/>
                          </a:solidFill>
                          <a:latin typeface="Calibri"/>
                        </a:defRPr>
                      </a:pPr>
                      <a:r>
                        <a:t>Módulo de geolocalización móvil</a:t>
                      </a:r>
                    </a:p>
                  </a:txBody>
                  <a:tcPr marL="76200" marR="76200" marT="25400" marB="25400" anchor="ctr">
                    <a:solidFill>
                      <a:srgbClr val="F3F6F4"/>
                    </a:solidFill>
                  </a:tcPr>
                </a:tc>
                <a:tc>
                  <a:txBody>
                    <a:bodyPr/>
                    <a:lstStyle/>
                    <a:p>
                      <a:pPr>
                        <a:defRPr sz="1050">
                          <a:solidFill>
                            <a:srgbClr val="16232B"/>
                          </a:solidFill>
                          <a:latin typeface="Calibri"/>
                        </a:defRPr>
                      </a:pPr>
                      <a:r>
                        <a:t>—</a:t>
                      </a:r>
                    </a:p>
                  </a:txBody>
                  <a:tcPr marL="76200" marR="76200" marT="25400" marB="25400" anchor="ctr">
                    <a:solidFill>
                      <a:srgbClr val="F3F6F4"/>
                    </a:solidFill>
                  </a:tcPr>
                </a:tc>
                <a:extLst>
                  <a:ext uri="{0D108BD9-81ED-4DB2-BD59-A6C34878D82A}">
                    <a16:rowId xmlns:a16="http://schemas.microsoft.com/office/drawing/2014/main" val="10009"/>
                  </a:ext>
                </a:extLst>
              </a:tr>
              <a:tr h="320040">
                <a:tc>
                  <a:txBody>
                    <a:bodyPr/>
                    <a:lstStyle/>
                    <a:p>
                      <a:pPr>
                        <a:defRPr sz="1050">
                          <a:solidFill>
                            <a:srgbClr val="16232B"/>
                          </a:solidFill>
                          <a:latin typeface="Calibri"/>
                        </a:defRPr>
                      </a:pPr>
                      <a:r>
                        <a:t>10</a:t>
                      </a:r>
                    </a:p>
                  </a:txBody>
                  <a:tcPr marL="76200" marR="76200" marT="25400" marB="25400" anchor="ctr">
                    <a:solidFill>
                      <a:srgbClr val="FFFFFF"/>
                    </a:solidFill>
                  </a:tcPr>
                </a:tc>
                <a:tc>
                  <a:txBody>
                    <a:bodyPr/>
                    <a:lstStyle/>
                    <a:p>
                      <a:pPr>
                        <a:defRPr sz="1050">
                          <a:solidFill>
                            <a:srgbClr val="16232B"/>
                          </a:solidFill>
                          <a:latin typeface="Calibri"/>
                        </a:defRPr>
                      </a:pPr>
                      <a:r>
                        <a:t>Sprint 3 · Retro</a:t>
                      </a:r>
                    </a:p>
                  </a:txBody>
                  <a:tcPr marL="76200" marR="76200" marT="25400" marB="25400" anchor="ctr">
                    <a:solidFill>
                      <a:srgbClr val="FFFFFF"/>
                    </a:solidFill>
                  </a:tcPr>
                </a:tc>
                <a:tc>
                  <a:txBody>
                    <a:bodyPr/>
                    <a:lstStyle/>
                    <a:p>
                      <a:pPr>
                        <a:defRPr sz="1050">
                          <a:solidFill>
                            <a:srgbClr val="16232B"/>
                          </a:solidFill>
                          <a:latin typeface="Calibri"/>
                        </a:defRPr>
                      </a:pPr>
                      <a:r>
                        <a:t>Módulo de trazabilidad</a:t>
                      </a:r>
                    </a:p>
                  </a:txBody>
                  <a:tcPr marL="76200" marR="76200" marT="25400" marB="25400" anchor="ctr">
                    <a:solidFill>
                      <a:srgbClr val="FFFFFF"/>
                    </a:solidFill>
                  </a:tcPr>
                </a:tc>
                <a:tc>
                  <a:txBody>
                    <a:bodyPr/>
                    <a:lstStyle/>
                    <a:p>
                      <a:pPr>
                        <a:defRPr sz="1050">
                          <a:solidFill>
                            <a:srgbClr val="16232B"/>
                          </a:solidFill>
                          <a:latin typeface="Calibri"/>
                        </a:defRPr>
                      </a:pPr>
                      <a:r>
                        <a:t>—</a:t>
                      </a:r>
                    </a:p>
                  </a:txBody>
                  <a:tcPr marL="76200" marR="76200" marT="25400" marB="25400" anchor="ctr">
                    <a:solidFill>
                      <a:srgbClr val="FFFFFF"/>
                    </a:solidFill>
                  </a:tcPr>
                </a:tc>
                <a:extLst>
                  <a:ext uri="{0D108BD9-81ED-4DB2-BD59-A6C34878D82A}">
                    <a16:rowId xmlns:a16="http://schemas.microsoft.com/office/drawing/2014/main" val="10010"/>
                  </a:ext>
                </a:extLst>
              </a:tr>
              <a:tr h="320040">
                <a:tc>
                  <a:txBody>
                    <a:bodyPr/>
                    <a:lstStyle/>
                    <a:p>
                      <a:pPr>
                        <a:defRPr sz="1050">
                          <a:solidFill>
                            <a:srgbClr val="16232B"/>
                          </a:solidFill>
                          <a:latin typeface="Calibri"/>
                        </a:defRPr>
                      </a:pPr>
                      <a:r>
                        <a:t>11</a:t>
                      </a:r>
                    </a:p>
                  </a:txBody>
                  <a:tcPr marL="76200" marR="76200" marT="25400" marB="25400" anchor="ctr">
                    <a:solidFill>
                      <a:srgbClr val="F3F6F4"/>
                    </a:solidFill>
                  </a:tcPr>
                </a:tc>
                <a:tc>
                  <a:txBody>
                    <a:bodyPr/>
                    <a:lstStyle/>
                    <a:p>
                      <a:pPr>
                        <a:defRPr sz="1050">
                          <a:solidFill>
                            <a:srgbClr val="16232B"/>
                          </a:solidFill>
                          <a:latin typeface="Calibri"/>
                        </a:defRPr>
                      </a:pPr>
                      <a:r>
                        <a:t>Sprint 4 · Planning</a:t>
                      </a:r>
                    </a:p>
                  </a:txBody>
                  <a:tcPr marL="76200" marR="76200" marT="25400" marB="25400" anchor="ctr">
                    <a:solidFill>
                      <a:srgbClr val="F3F6F4"/>
                    </a:solidFill>
                  </a:tcPr>
                </a:tc>
                <a:tc>
                  <a:txBody>
                    <a:bodyPr/>
                    <a:lstStyle/>
                    <a:p>
                      <a:pPr>
                        <a:defRPr sz="1050">
                          <a:solidFill>
                            <a:srgbClr val="16232B"/>
                          </a:solidFill>
                          <a:latin typeface="Calibri"/>
                        </a:defRPr>
                      </a:pPr>
                      <a:r>
                        <a:t>Cierre digital y búsqueda por voz</a:t>
                      </a:r>
                    </a:p>
                  </a:txBody>
                  <a:tcPr marL="76200" marR="76200" marT="25400" marB="25400" anchor="ctr">
                    <a:solidFill>
                      <a:srgbClr val="F3F6F4"/>
                    </a:solidFill>
                  </a:tcPr>
                </a:tc>
                <a:tc>
                  <a:txBody>
                    <a:bodyPr/>
                    <a:lstStyle/>
                    <a:p>
                      <a:pPr>
                        <a:defRPr sz="1050">
                          <a:solidFill>
                            <a:srgbClr val="16232B"/>
                          </a:solidFill>
                          <a:latin typeface="Calibri"/>
                        </a:defRPr>
                      </a:pPr>
                      <a:r>
                        <a:t>—</a:t>
                      </a:r>
                    </a:p>
                  </a:txBody>
                  <a:tcPr marL="76200" marR="76200" marT="25400" marB="25400" anchor="ctr">
                    <a:solidFill>
                      <a:srgbClr val="F3F6F4"/>
                    </a:solidFill>
                  </a:tcPr>
                </a:tc>
                <a:extLst>
                  <a:ext uri="{0D108BD9-81ED-4DB2-BD59-A6C34878D82A}">
                    <a16:rowId xmlns:a16="http://schemas.microsoft.com/office/drawing/2014/main" val="10011"/>
                  </a:ext>
                </a:extLst>
              </a:tr>
              <a:tr h="320040">
                <a:tc>
                  <a:txBody>
                    <a:bodyPr/>
                    <a:lstStyle/>
                    <a:p>
                      <a:pPr>
                        <a:defRPr sz="1050">
                          <a:solidFill>
                            <a:srgbClr val="16232B"/>
                          </a:solidFill>
                          <a:latin typeface="Calibri"/>
                        </a:defRPr>
                      </a:pPr>
                      <a:r>
                        <a:t>12</a:t>
                      </a:r>
                    </a:p>
                  </a:txBody>
                  <a:tcPr marL="76200" marR="76200" marT="25400" marB="25400" anchor="ctr">
                    <a:solidFill>
                      <a:srgbClr val="FFFFFF"/>
                    </a:solidFill>
                  </a:tcPr>
                </a:tc>
                <a:tc>
                  <a:txBody>
                    <a:bodyPr/>
                    <a:lstStyle/>
                    <a:p>
                      <a:pPr>
                        <a:defRPr sz="1050">
                          <a:solidFill>
                            <a:srgbClr val="16232B"/>
                          </a:solidFill>
                          <a:latin typeface="Calibri"/>
                        </a:defRPr>
                      </a:pPr>
                      <a:r>
                        <a:t>Sprint 4 · Review</a:t>
                      </a:r>
                    </a:p>
                  </a:txBody>
                  <a:tcPr marL="76200" marR="76200" marT="25400" marB="25400" anchor="ctr">
                    <a:solidFill>
                      <a:srgbClr val="FFFFFF"/>
                    </a:solidFill>
                  </a:tcPr>
                </a:tc>
                <a:tc>
                  <a:txBody>
                    <a:bodyPr/>
                    <a:lstStyle/>
                    <a:p>
                      <a:pPr>
                        <a:defRPr sz="1050">
                          <a:solidFill>
                            <a:srgbClr val="16232B"/>
                          </a:solidFill>
                          <a:latin typeface="Calibri"/>
                        </a:defRPr>
                      </a:pPr>
                      <a:r>
                        <a:t>Informe final del proyecto (Sumativa 3)</a:t>
                      </a:r>
                    </a:p>
                  </a:txBody>
                  <a:tcPr marL="76200" marR="76200" marT="25400" marB="25400" anchor="ctr">
                    <a:solidFill>
                      <a:srgbClr val="FFFFFF"/>
                    </a:solidFill>
                  </a:tcPr>
                </a:tc>
                <a:tc>
                  <a:txBody>
                    <a:bodyPr/>
                    <a:lstStyle/>
                    <a:p>
                      <a:pPr>
                        <a:defRPr sz="1050">
                          <a:solidFill>
                            <a:srgbClr val="16232B"/>
                          </a:solidFill>
                          <a:latin typeface="Calibri"/>
                        </a:defRPr>
                      </a:pPr>
                      <a:r>
                        <a:t>Hito 3</a:t>
                      </a:r>
                    </a:p>
                  </a:txBody>
                  <a:tcPr marL="76200" marR="76200" marT="25400" marB="25400" anchor="ctr">
                    <a:solidFill>
                      <a:srgbClr val="FFFFFF"/>
                    </a:solidFill>
                  </a:tcPr>
                </a:tc>
                <a:extLst>
                  <a:ext uri="{0D108BD9-81ED-4DB2-BD59-A6C34878D82A}">
                    <a16:rowId xmlns:a16="http://schemas.microsoft.com/office/drawing/2014/main" val="10012"/>
                  </a:ext>
                </a:extLst>
              </a:tr>
            </a:tbl>
          </a:graphicData>
        </a:graphic>
      </p:graphicFrame>
      <p:sp>
        <p:nvSpPr>
          <p:cNvPr id="6" name="Rectangle 5"/>
          <p:cNvSpPr/>
          <p:nvPr/>
        </p:nvSpPr>
        <p:spPr>
          <a:xfrm>
            <a:off x="0" y="6528816"/>
            <a:ext cx="12191695" cy="18288"/>
          </a:xfrm>
          <a:prstGeom prst="rect">
            <a:avLst/>
          </a:prstGeom>
          <a:solidFill>
            <a:srgbClr val="C9D2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7315200" cy="274320"/>
          </a:xfrm>
          <a:prstGeom prst="rect">
            <a:avLst/>
          </a:prstGeom>
          <a:noFill/>
        </p:spPr>
        <p:txBody>
          <a:bodyPr wrap="square" lIns="0" tIns="0" rIns="0" bIns="0" anchor="t">
            <a:spAutoFit/>
          </a:bodyPr>
          <a:lstStyle/>
          <a:p>
            <a:pPr algn="l">
              <a:lnSpc>
                <a:spcPct val="100000"/>
              </a:lnSpc>
            </a:pPr>
            <a:r>
              <a:rPr sz="900" b="0" i="0">
                <a:solidFill>
                  <a:srgbClr val="57666C"/>
                </a:solidFill>
                <a:latin typeface="Calibri"/>
              </a:rPr>
              <a:t>FoodVoice · AINC422 · Semana 4</a:t>
            </a:r>
          </a:p>
        </p:txBody>
      </p:sp>
      <p:sp>
        <p:nvSpPr>
          <p:cNvPr id="8" name="TextBox 7"/>
          <p:cNvSpPr txBox="1"/>
          <p:nvPr/>
        </p:nvSpPr>
        <p:spPr>
          <a:xfrm>
            <a:off x="11094415" y="6583680"/>
            <a:ext cx="640080" cy="274320"/>
          </a:xfrm>
          <a:prstGeom prst="rect">
            <a:avLst/>
          </a:prstGeom>
          <a:noFill/>
        </p:spPr>
        <p:txBody>
          <a:bodyPr wrap="square" lIns="0" tIns="0" rIns="0" bIns="0" anchor="t">
            <a:spAutoFit/>
          </a:bodyPr>
          <a:lstStyle/>
          <a:p>
            <a:pPr algn="r">
              <a:lnSpc>
                <a:spcPct val="100000"/>
              </a:lnSpc>
            </a:pPr>
            <a:r>
              <a:rPr sz="900" b="0" i="0">
                <a:solidFill>
                  <a:srgbClr val="57666C"/>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6F4"/>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lgn="l">
              <a:lnSpc>
                <a:spcPct val="100000"/>
              </a:lnSpc>
            </a:pPr>
            <a:r>
              <a:rPr sz="1200" b="1" i="0">
                <a:solidFill>
                  <a:srgbClr val="D9821F"/>
                </a:solidFill>
                <a:latin typeface="Calibri"/>
              </a:rPr>
              <a:t>MOCKUPS</a:t>
            </a:r>
          </a:p>
        </p:txBody>
      </p:sp>
      <p:sp>
        <p:nvSpPr>
          <p:cNvPr id="3" name="TextBox 2"/>
          <p:cNvSpPr txBox="1"/>
          <p:nvPr/>
        </p:nvSpPr>
        <p:spPr>
          <a:xfrm>
            <a:off x="548640" y="704088"/>
            <a:ext cx="11064240" cy="640080"/>
          </a:xfrm>
          <a:prstGeom prst="rect">
            <a:avLst/>
          </a:prstGeom>
          <a:noFill/>
        </p:spPr>
        <p:txBody>
          <a:bodyPr wrap="square" lIns="0" tIns="0" rIns="0" bIns="0" anchor="t">
            <a:spAutoFit/>
          </a:bodyPr>
          <a:lstStyle/>
          <a:p>
            <a:pPr algn="l">
              <a:lnSpc>
                <a:spcPct val="100000"/>
              </a:lnSpc>
            </a:pPr>
            <a:r>
              <a:rPr sz="2800" b="1" i="0">
                <a:solidFill>
                  <a:srgbClr val="16232B"/>
                </a:solidFill>
                <a:latin typeface="Calibri"/>
              </a:rPr>
              <a:t>Mockups — Cliente (web)</a:t>
            </a:r>
          </a:p>
        </p:txBody>
      </p:sp>
      <p:sp>
        <p:nvSpPr>
          <p:cNvPr id="4" name="Rectangle 3"/>
          <p:cNvSpPr/>
          <p:nvPr/>
        </p:nvSpPr>
        <p:spPr>
          <a:xfrm>
            <a:off x="548640" y="1271016"/>
            <a:ext cx="2743200" cy="27432"/>
          </a:xfrm>
          <a:prstGeom prst="rect">
            <a:avLst/>
          </a:prstGeom>
          <a:solidFill>
            <a:srgbClr val="D9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499616"/>
            <a:ext cx="594360" cy="256032"/>
          </a:xfrm>
          <a:prstGeom prst="roundRect">
            <a:avLst>
              <a:gd name="adj" fmla="val 50000"/>
            </a:avLst>
          </a:prstGeom>
          <a:solidFill>
            <a:srgbClr val="E4EEF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A6F97"/>
                </a:solidFill>
                <a:latin typeface="Calibri"/>
              </a:rPr>
              <a:t>WEB</a:t>
            </a:r>
          </a:p>
        </p:txBody>
      </p:sp>
      <p:pic>
        <p:nvPicPr>
          <p:cNvPr id="6" name="Picture 5" descr="w1.png"/>
          <p:cNvPicPr>
            <a:picLocks noChangeAspect="1"/>
          </p:cNvPicPr>
          <p:nvPr/>
        </p:nvPicPr>
        <p:blipFill>
          <a:blip r:embed="rId3"/>
          <a:stretch>
            <a:fillRect/>
          </a:stretch>
        </p:blipFill>
        <p:spPr>
          <a:xfrm>
            <a:off x="466605" y="1965960"/>
            <a:ext cx="3506044" cy="2887850"/>
          </a:xfrm>
          <a:prstGeom prst="rect">
            <a:avLst/>
          </a:prstGeom>
        </p:spPr>
      </p:pic>
      <p:pic>
        <p:nvPicPr>
          <p:cNvPr id="7" name="Picture 6" descr="w2.png"/>
          <p:cNvPicPr>
            <a:picLocks noChangeAspect="1"/>
          </p:cNvPicPr>
          <p:nvPr/>
        </p:nvPicPr>
        <p:blipFill>
          <a:blip r:embed="rId4"/>
          <a:stretch>
            <a:fillRect/>
          </a:stretch>
        </p:blipFill>
        <p:spPr>
          <a:xfrm>
            <a:off x="4338409" y="1965960"/>
            <a:ext cx="3514876" cy="2887850"/>
          </a:xfrm>
          <a:prstGeom prst="rect">
            <a:avLst/>
          </a:prstGeom>
        </p:spPr>
      </p:pic>
      <p:pic>
        <p:nvPicPr>
          <p:cNvPr id="8" name="Picture 7" descr="w3.png"/>
          <p:cNvPicPr>
            <a:picLocks noChangeAspect="1"/>
          </p:cNvPicPr>
          <p:nvPr/>
        </p:nvPicPr>
        <p:blipFill>
          <a:blip r:embed="rId5"/>
          <a:stretch>
            <a:fillRect/>
          </a:stretch>
        </p:blipFill>
        <p:spPr>
          <a:xfrm>
            <a:off x="8219045" y="1965960"/>
            <a:ext cx="3506044" cy="2887850"/>
          </a:xfrm>
          <a:prstGeom prst="rect">
            <a:avLst/>
          </a:prstGeom>
        </p:spPr>
      </p:pic>
      <p:sp>
        <p:nvSpPr>
          <p:cNvPr id="9" name="Rectangle 8"/>
          <p:cNvSpPr/>
          <p:nvPr/>
        </p:nvSpPr>
        <p:spPr>
          <a:xfrm>
            <a:off x="0" y="6528816"/>
            <a:ext cx="12191695" cy="18288"/>
          </a:xfrm>
          <a:prstGeom prst="rect">
            <a:avLst/>
          </a:prstGeom>
          <a:solidFill>
            <a:srgbClr val="C9D2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83680"/>
            <a:ext cx="7315200" cy="274320"/>
          </a:xfrm>
          <a:prstGeom prst="rect">
            <a:avLst/>
          </a:prstGeom>
          <a:noFill/>
        </p:spPr>
        <p:txBody>
          <a:bodyPr wrap="square" lIns="0" tIns="0" rIns="0" bIns="0" anchor="t">
            <a:spAutoFit/>
          </a:bodyPr>
          <a:lstStyle/>
          <a:p>
            <a:pPr algn="l">
              <a:lnSpc>
                <a:spcPct val="100000"/>
              </a:lnSpc>
            </a:pPr>
            <a:r>
              <a:rPr sz="900" b="0" i="0">
                <a:solidFill>
                  <a:srgbClr val="57666C"/>
                </a:solidFill>
                <a:latin typeface="Calibri"/>
              </a:rPr>
              <a:t>FoodVoice · AINC422 · Semana 4</a:t>
            </a:r>
          </a:p>
        </p:txBody>
      </p:sp>
      <p:sp>
        <p:nvSpPr>
          <p:cNvPr id="11" name="TextBox 10"/>
          <p:cNvSpPr txBox="1"/>
          <p:nvPr/>
        </p:nvSpPr>
        <p:spPr>
          <a:xfrm>
            <a:off x="11094415" y="6583680"/>
            <a:ext cx="640080" cy="274320"/>
          </a:xfrm>
          <a:prstGeom prst="rect">
            <a:avLst/>
          </a:prstGeom>
          <a:noFill/>
        </p:spPr>
        <p:txBody>
          <a:bodyPr wrap="square" lIns="0" tIns="0" rIns="0" bIns="0" anchor="t">
            <a:spAutoFit/>
          </a:bodyPr>
          <a:lstStyle/>
          <a:p>
            <a:pPr algn="r">
              <a:lnSpc>
                <a:spcPct val="100000"/>
              </a:lnSpc>
            </a:pPr>
            <a:r>
              <a:rPr sz="900" b="0" i="0">
                <a:solidFill>
                  <a:srgbClr val="57666C"/>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6F4"/>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lgn="l">
              <a:lnSpc>
                <a:spcPct val="100000"/>
              </a:lnSpc>
            </a:pPr>
            <a:r>
              <a:rPr sz="1200" b="1" i="0">
                <a:solidFill>
                  <a:srgbClr val="D9821F"/>
                </a:solidFill>
                <a:latin typeface="Calibri"/>
              </a:rPr>
              <a:t>MOCKUPS</a:t>
            </a:r>
          </a:p>
        </p:txBody>
      </p:sp>
      <p:sp>
        <p:nvSpPr>
          <p:cNvPr id="3" name="TextBox 2"/>
          <p:cNvSpPr txBox="1"/>
          <p:nvPr/>
        </p:nvSpPr>
        <p:spPr>
          <a:xfrm>
            <a:off x="548640" y="704088"/>
            <a:ext cx="11064240" cy="640080"/>
          </a:xfrm>
          <a:prstGeom prst="rect">
            <a:avLst/>
          </a:prstGeom>
          <a:noFill/>
        </p:spPr>
        <p:txBody>
          <a:bodyPr wrap="square" lIns="0" tIns="0" rIns="0" bIns="0" anchor="t">
            <a:spAutoFit/>
          </a:bodyPr>
          <a:lstStyle/>
          <a:p>
            <a:pPr algn="l">
              <a:lnSpc>
                <a:spcPct val="100000"/>
              </a:lnSpc>
            </a:pPr>
            <a:r>
              <a:rPr sz="2800" b="1" i="0">
                <a:solidFill>
                  <a:srgbClr val="16232B"/>
                </a:solidFill>
                <a:latin typeface="Calibri"/>
              </a:rPr>
              <a:t>Mockups — Local comercial y Administrador (web)</a:t>
            </a:r>
          </a:p>
        </p:txBody>
      </p:sp>
      <p:sp>
        <p:nvSpPr>
          <p:cNvPr id="4" name="Rectangle 3"/>
          <p:cNvSpPr/>
          <p:nvPr/>
        </p:nvSpPr>
        <p:spPr>
          <a:xfrm>
            <a:off x="548640" y="1271016"/>
            <a:ext cx="2743200" cy="27432"/>
          </a:xfrm>
          <a:prstGeom prst="rect">
            <a:avLst/>
          </a:prstGeom>
          <a:solidFill>
            <a:srgbClr val="D9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499616"/>
            <a:ext cx="594360" cy="256032"/>
          </a:xfrm>
          <a:prstGeom prst="roundRect">
            <a:avLst>
              <a:gd name="adj" fmla="val 50000"/>
            </a:avLst>
          </a:prstGeom>
          <a:solidFill>
            <a:srgbClr val="E9F0E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55793F"/>
                </a:solidFill>
                <a:latin typeface="Calibri"/>
              </a:rPr>
              <a:t>WEB</a:t>
            </a:r>
          </a:p>
        </p:txBody>
      </p:sp>
      <p:pic>
        <p:nvPicPr>
          <p:cNvPr id="6" name="Picture 5" descr="w4.png"/>
          <p:cNvPicPr>
            <a:picLocks noChangeAspect="1"/>
          </p:cNvPicPr>
          <p:nvPr/>
        </p:nvPicPr>
        <p:blipFill>
          <a:blip r:embed="rId3"/>
          <a:stretch>
            <a:fillRect/>
          </a:stretch>
        </p:blipFill>
        <p:spPr>
          <a:xfrm>
            <a:off x="457208" y="1965960"/>
            <a:ext cx="3512303" cy="2786840"/>
          </a:xfrm>
          <a:prstGeom prst="rect">
            <a:avLst/>
          </a:prstGeom>
        </p:spPr>
      </p:pic>
      <p:pic>
        <p:nvPicPr>
          <p:cNvPr id="7" name="Picture 6" descr="w5.png"/>
          <p:cNvPicPr>
            <a:picLocks noChangeAspect="1"/>
          </p:cNvPicPr>
          <p:nvPr/>
        </p:nvPicPr>
        <p:blipFill>
          <a:blip r:embed="rId4"/>
          <a:stretch>
            <a:fillRect/>
          </a:stretch>
        </p:blipFill>
        <p:spPr>
          <a:xfrm>
            <a:off x="4335271" y="1965960"/>
            <a:ext cx="3521150" cy="2786840"/>
          </a:xfrm>
          <a:prstGeom prst="rect">
            <a:avLst/>
          </a:prstGeom>
        </p:spPr>
      </p:pic>
      <p:pic>
        <p:nvPicPr>
          <p:cNvPr id="8" name="Picture 7" descr="w6.png"/>
          <p:cNvPicPr>
            <a:picLocks noChangeAspect="1"/>
          </p:cNvPicPr>
          <p:nvPr/>
        </p:nvPicPr>
        <p:blipFill>
          <a:blip r:embed="rId5"/>
          <a:stretch>
            <a:fillRect/>
          </a:stretch>
        </p:blipFill>
        <p:spPr>
          <a:xfrm>
            <a:off x="8222181" y="1965960"/>
            <a:ext cx="3512303" cy="2786840"/>
          </a:xfrm>
          <a:prstGeom prst="rect">
            <a:avLst/>
          </a:prstGeom>
        </p:spPr>
      </p:pic>
      <p:sp>
        <p:nvSpPr>
          <p:cNvPr id="9" name="Rectangle 8"/>
          <p:cNvSpPr/>
          <p:nvPr/>
        </p:nvSpPr>
        <p:spPr>
          <a:xfrm>
            <a:off x="0" y="6528816"/>
            <a:ext cx="12191695" cy="18288"/>
          </a:xfrm>
          <a:prstGeom prst="rect">
            <a:avLst/>
          </a:prstGeom>
          <a:solidFill>
            <a:srgbClr val="C9D2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83680"/>
            <a:ext cx="7315200" cy="274320"/>
          </a:xfrm>
          <a:prstGeom prst="rect">
            <a:avLst/>
          </a:prstGeom>
          <a:noFill/>
        </p:spPr>
        <p:txBody>
          <a:bodyPr wrap="square" lIns="0" tIns="0" rIns="0" bIns="0" anchor="t">
            <a:spAutoFit/>
          </a:bodyPr>
          <a:lstStyle/>
          <a:p>
            <a:pPr algn="l">
              <a:lnSpc>
                <a:spcPct val="100000"/>
              </a:lnSpc>
            </a:pPr>
            <a:r>
              <a:rPr sz="900" b="0" i="0">
                <a:solidFill>
                  <a:srgbClr val="57666C"/>
                </a:solidFill>
                <a:latin typeface="Calibri"/>
              </a:rPr>
              <a:t>FoodVoice · AINC422 · Semana 4</a:t>
            </a:r>
          </a:p>
        </p:txBody>
      </p:sp>
      <p:sp>
        <p:nvSpPr>
          <p:cNvPr id="11" name="TextBox 10"/>
          <p:cNvSpPr txBox="1"/>
          <p:nvPr/>
        </p:nvSpPr>
        <p:spPr>
          <a:xfrm>
            <a:off x="11094415" y="6583680"/>
            <a:ext cx="640080" cy="274320"/>
          </a:xfrm>
          <a:prstGeom prst="rect">
            <a:avLst/>
          </a:prstGeom>
          <a:noFill/>
        </p:spPr>
        <p:txBody>
          <a:bodyPr wrap="square" lIns="0" tIns="0" rIns="0" bIns="0" anchor="t">
            <a:spAutoFit/>
          </a:bodyPr>
          <a:lstStyle/>
          <a:p>
            <a:pPr algn="r">
              <a:lnSpc>
                <a:spcPct val="100000"/>
              </a:lnSpc>
            </a:pPr>
            <a:r>
              <a:rPr sz="900" b="0" i="0">
                <a:solidFill>
                  <a:srgbClr val="57666C"/>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6F4"/>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lgn="l">
              <a:lnSpc>
                <a:spcPct val="100000"/>
              </a:lnSpc>
            </a:pPr>
            <a:r>
              <a:rPr sz="1200" b="1" i="0">
                <a:solidFill>
                  <a:srgbClr val="D9821F"/>
                </a:solidFill>
                <a:latin typeface="Calibri"/>
              </a:rPr>
              <a:t>MOCKUPS</a:t>
            </a:r>
          </a:p>
        </p:txBody>
      </p:sp>
      <p:sp>
        <p:nvSpPr>
          <p:cNvPr id="3" name="TextBox 2"/>
          <p:cNvSpPr txBox="1"/>
          <p:nvPr/>
        </p:nvSpPr>
        <p:spPr>
          <a:xfrm>
            <a:off x="548640" y="704088"/>
            <a:ext cx="11064240" cy="640080"/>
          </a:xfrm>
          <a:prstGeom prst="rect">
            <a:avLst/>
          </a:prstGeom>
          <a:noFill/>
        </p:spPr>
        <p:txBody>
          <a:bodyPr wrap="square" lIns="0" tIns="0" rIns="0" bIns="0" anchor="t">
            <a:spAutoFit/>
          </a:bodyPr>
          <a:lstStyle/>
          <a:p>
            <a:pPr algn="l">
              <a:lnSpc>
                <a:spcPct val="100000"/>
              </a:lnSpc>
            </a:pPr>
            <a:r>
              <a:rPr sz="2800" b="1" i="0">
                <a:solidFill>
                  <a:srgbClr val="16232B"/>
                </a:solidFill>
                <a:latin typeface="Calibri"/>
              </a:rPr>
              <a:t>Mockups — Repartidor (móvil)</a:t>
            </a:r>
          </a:p>
        </p:txBody>
      </p:sp>
      <p:sp>
        <p:nvSpPr>
          <p:cNvPr id="4" name="Rectangle 3"/>
          <p:cNvSpPr/>
          <p:nvPr/>
        </p:nvSpPr>
        <p:spPr>
          <a:xfrm>
            <a:off x="548640" y="1271016"/>
            <a:ext cx="2743200" cy="27432"/>
          </a:xfrm>
          <a:prstGeom prst="rect">
            <a:avLst/>
          </a:prstGeom>
          <a:solidFill>
            <a:srgbClr val="D9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499616"/>
            <a:ext cx="685800" cy="256032"/>
          </a:xfrm>
          <a:prstGeom prst="roundRect">
            <a:avLst>
              <a:gd name="adj" fmla="val 50000"/>
            </a:avLst>
          </a:prstGeom>
          <a:solidFill>
            <a:srgbClr val="E1F1E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0F7B6C"/>
                </a:solidFill>
                <a:latin typeface="Calibri"/>
              </a:rPr>
              <a:t>MOVIL</a:t>
            </a:r>
          </a:p>
        </p:txBody>
      </p:sp>
      <p:pic>
        <p:nvPicPr>
          <p:cNvPr id="6" name="Picture 5" descr="m1.png"/>
          <p:cNvPicPr>
            <a:picLocks noChangeAspect="1"/>
          </p:cNvPicPr>
          <p:nvPr/>
        </p:nvPicPr>
        <p:blipFill>
          <a:blip r:embed="rId3"/>
          <a:stretch>
            <a:fillRect/>
          </a:stretch>
        </p:blipFill>
        <p:spPr>
          <a:xfrm>
            <a:off x="3125715" y="1965960"/>
            <a:ext cx="2826595" cy="3931920"/>
          </a:xfrm>
          <a:prstGeom prst="rect">
            <a:avLst/>
          </a:prstGeom>
        </p:spPr>
      </p:pic>
      <p:pic>
        <p:nvPicPr>
          <p:cNvPr id="7" name="Picture 6" descr="m2.png"/>
          <p:cNvPicPr>
            <a:picLocks noChangeAspect="1"/>
          </p:cNvPicPr>
          <p:nvPr/>
        </p:nvPicPr>
        <p:blipFill>
          <a:blip r:embed="rId4"/>
          <a:stretch>
            <a:fillRect/>
          </a:stretch>
        </p:blipFill>
        <p:spPr>
          <a:xfrm>
            <a:off x="6500949" y="1965960"/>
            <a:ext cx="2565029" cy="3931920"/>
          </a:xfrm>
          <a:prstGeom prst="rect">
            <a:avLst/>
          </a:prstGeom>
        </p:spPr>
      </p:pic>
      <p:sp>
        <p:nvSpPr>
          <p:cNvPr id="8" name="Rectangle 7"/>
          <p:cNvSpPr/>
          <p:nvPr/>
        </p:nvSpPr>
        <p:spPr>
          <a:xfrm>
            <a:off x="0" y="6528816"/>
            <a:ext cx="12191695" cy="18288"/>
          </a:xfrm>
          <a:prstGeom prst="rect">
            <a:avLst/>
          </a:prstGeom>
          <a:solidFill>
            <a:srgbClr val="C9D2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583680"/>
            <a:ext cx="7315200" cy="274320"/>
          </a:xfrm>
          <a:prstGeom prst="rect">
            <a:avLst/>
          </a:prstGeom>
          <a:noFill/>
        </p:spPr>
        <p:txBody>
          <a:bodyPr wrap="square" lIns="0" tIns="0" rIns="0" bIns="0" anchor="t">
            <a:spAutoFit/>
          </a:bodyPr>
          <a:lstStyle/>
          <a:p>
            <a:pPr algn="l">
              <a:lnSpc>
                <a:spcPct val="100000"/>
              </a:lnSpc>
            </a:pPr>
            <a:r>
              <a:rPr sz="900" b="0" i="0">
                <a:solidFill>
                  <a:srgbClr val="57666C"/>
                </a:solidFill>
                <a:latin typeface="Calibri"/>
              </a:rPr>
              <a:t>FoodVoice · AINC422 · Semana 4</a:t>
            </a:r>
          </a:p>
        </p:txBody>
      </p:sp>
      <p:sp>
        <p:nvSpPr>
          <p:cNvPr id="10" name="TextBox 9"/>
          <p:cNvSpPr txBox="1"/>
          <p:nvPr/>
        </p:nvSpPr>
        <p:spPr>
          <a:xfrm>
            <a:off x="11094415" y="6583680"/>
            <a:ext cx="640080" cy="274320"/>
          </a:xfrm>
          <a:prstGeom prst="rect">
            <a:avLst/>
          </a:prstGeom>
          <a:noFill/>
        </p:spPr>
        <p:txBody>
          <a:bodyPr wrap="square" lIns="0" tIns="0" rIns="0" bIns="0" anchor="t">
            <a:spAutoFit/>
          </a:bodyPr>
          <a:lstStyle/>
          <a:p>
            <a:pPr algn="r">
              <a:lnSpc>
                <a:spcPct val="100000"/>
              </a:lnSpc>
            </a:pPr>
            <a:r>
              <a:rPr sz="900" b="0" i="0">
                <a:solidFill>
                  <a:srgbClr val="57666C"/>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6F4"/>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lgn="l">
              <a:lnSpc>
                <a:spcPct val="100000"/>
              </a:lnSpc>
            </a:pPr>
            <a:r>
              <a:rPr sz="1200" b="1" i="0">
                <a:solidFill>
                  <a:srgbClr val="D9821F"/>
                </a:solidFill>
                <a:latin typeface="Calibri"/>
              </a:rPr>
              <a:t>DATOS Y PROTOTIPO</a:t>
            </a:r>
          </a:p>
        </p:txBody>
      </p:sp>
      <p:sp>
        <p:nvSpPr>
          <p:cNvPr id="3" name="TextBox 2"/>
          <p:cNvSpPr txBox="1"/>
          <p:nvPr/>
        </p:nvSpPr>
        <p:spPr>
          <a:xfrm>
            <a:off x="548640" y="704088"/>
            <a:ext cx="11064240" cy="640080"/>
          </a:xfrm>
          <a:prstGeom prst="rect">
            <a:avLst/>
          </a:prstGeom>
          <a:noFill/>
        </p:spPr>
        <p:txBody>
          <a:bodyPr wrap="square" lIns="0" tIns="0" rIns="0" bIns="0" anchor="t">
            <a:spAutoFit/>
          </a:bodyPr>
          <a:lstStyle/>
          <a:p>
            <a:pPr algn="l">
              <a:lnSpc>
                <a:spcPct val="100000"/>
              </a:lnSpc>
            </a:pPr>
            <a:r>
              <a:rPr sz="2800" b="1" i="0">
                <a:solidFill>
                  <a:srgbClr val="16232B"/>
                </a:solidFill>
                <a:latin typeface="Calibri"/>
              </a:rPr>
              <a:t>Modelo de datos del MPV</a:t>
            </a:r>
          </a:p>
        </p:txBody>
      </p:sp>
      <p:sp>
        <p:nvSpPr>
          <p:cNvPr id="4" name="Rectangle 3"/>
          <p:cNvSpPr/>
          <p:nvPr/>
        </p:nvSpPr>
        <p:spPr>
          <a:xfrm>
            <a:off x="548640" y="1271016"/>
            <a:ext cx="2743200" cy="27432"/>
          </a:xfrm>
          <a:prstGeom prst="rect">
            <a:avLst/>
          </a:prstGeom>
          <a:solidFill>
            <a:srgbClr val="D9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99616"/>
            <a:ext cx="10789920" cy="822960"/>
          </a:xfrm>
          <a:prstGeom prst="rect">
            <a:avLst/>
          </a:prstGeom>
          <a:noFill/>
        </p:spPr>
        <p:txBody>
          <a:bodyPr wrap="square" lIns="0" tIns="0">
            <a:spAutoFit/>
          </a:bodyPr>
          <a:lstStyle/>
          <a:p>
            <a:pPr>
              <a:lnSpc>
                <a:spcPct val="112000"/>
              </a:lnSpc>
              <a:spcAft>
                <a:spcPts val="1000"/>
              </a:spcAft>
            </a:pPr>
            <a:r>
              <a:rPr sz="1350" b="1">
                <a:solidFill>
                  <a:srgbClr val="D9821F"/>
                </a:solidFill>
                <a:latin typeface="Calibri"/>
              </a:rPr>
              <a:t>—  </a:t>
            </a:r>
            <a:r>
              <a:rPr sz="1350">
                <a:solidFill>
                  <a:srgbClr val="16232B"/>
                </a:solidFill>
                <a:latin typeface="Calibri"/>
              </a:rPr>
              <a:t>7 entidades. HISTORIAL_ESTADO sustenta HU-03 (trazabilidad); UBICACION sustenta HU-04 (geolocalización).</a:t>
            </a:r>
          </a:p>
        </p:txBody>
      </p:sp>
      <p:pic>
        <p:nvPicPr>
          <p:cNvPr id="6" name="Picture 5" descr="er-diagram.png"/>
          <p:cNvPicPr>
            <a:picLocks noChangeAspect="1"/>
          </p:cNvPicPr>
          <p:nvPr/>
        </p:nvPicPr>
        <p:blipFill>
          <a:blip r:embed="rId3"/>
          <a:stretch>
            <a:fillRect/>
          </a:stretch>
        </p:blipFill>
        <p:spPr>
          <a:xfrm>
            <a:off x="3642986" y="1691640"/>
            <a:ext cx="4905723" cy="4480560"/>
          </a:xfrm>
          <a:prstGeom prst="rect">
            <a:avLst/>
          </a:prstGeom>
        </p:spPr>
      </p:pic>
      <p:sp>
        <p:nvSpPr>
          <p:cNvPr id="7" name="Rectangle 6"/>
          <p:cNvSpPr/>
          <p:nvPr/>
        </p:nvSpPr>
        <p:spPr>
          <a:xfrm>
            <a:off x="0" y="6528816"/>
            <a:ext cx="12191695" cy="18288"/>
          </a:xfrm>
          <a:prstGeom prst="rect">
            <a:avLst/>
          </a:prstGeom>
          <a:solidFill>
            <a:srgbClr val="C9D2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83680"/>
            <a:ext cx="7315200" cy="274320"/>
          </a:xfrm>
          <a:prstGeom prst="rect">
            <a:avLst/>
          </a:prstGeom>
          <a:noFill/>
        </p:spPr>
        <p:txBody>
          <a:bodyPr wrap="square" lIns="0" tIns="0" rIns="0" bIns="0" anchor="t">
            <a:spAutoFit/>
          </a:bodyPr>
          <a:lstStyle/>
          <a:p>
            <a:pPr algn="l">
              <a:lnSpc>
                <a:spcPct val="100000"/>
              </a:lnSpc>
            </a:pPr>
            <a:r>
              <a:rPr sz="900" b="0" i="0">
                <a:solidFill>
                  <a:srgbClr val="57666C"/>
                </a:solidFill>
                <a:latin typeface="Calibri"/>
              </a:rPr>
              <a:t>FoodVoice · AINC422 · Semana 4</a:t>
            </a:r>
          </a:p>
        </p:txBody>
      </p:sp>
      <p:sp>
        <p:nvSpPr>
          <p:cNvPr id="9" name="TextBox 8"/>
          <p:cNvSpPr txBox="1"/>
          <p:nvPr/>
        </p:nvSpPr>
        <p:spPr>
          <a:xfrm>
            <a:off x="11094415" y="6583680"/>
            <a:ext cx="640080" cy="274320"/>
          </a:xfrm>
          <a:prstGeom prst="rect">
            <a:avLst/>
          </a:prstGeom>
          <a:noFill/>
        </p:spPr>
        <p:txBody>
          <a:bodyPr wrap="square" lIns="0" tIns="0" rIns="0" bIns="0" anchor="t">
            <a:spAutoFit/>
          </a:bodyPr>
          <a:lstStyle/>
          <a:p>
            <a:pPr algn="r">
              <a:lnSpc>
                <a:spcPct val="100000"/>
              </a:lnSpc>
            </a:pPr>
            <a:r>
              <a:rPr sz="900" b="0" i="0">
                <a:solidFill>
                  <a:srgbClr val="57666C"/>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6F4"/>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lgn="l">
              <a:lnSpc>
                <a:spcPct val="100000"/>
              </a:lnSpc>
            </a:pPr>
            <a:r>
              <a:rPr sz="1200" b="1" i="0">
                <a:solidFill>
                  <a:srgbClr val="D9821F"/>
                </a:solidFill>
                <a:latin typeface="Calibri"/>
              </a:rPr>
              <a:t>DATOS Y PROTOTIPO</a:t>
            </a:r>
          </a:p>
        </p:txBody>
      </p:sp>
      <p:sp>
        <p:nvSpPr>
          <p:cNvPr id="3" name="TextBox 2"/>
          <p:cNvSpPr txBox="1"/>
          <p:nvPr/>
        </p:nvSpPr>
        <p:spPr>
          <a:xfrm>
            <a:off x="548640" y="704088"/>
            <a:ext cx="11064240" cy="640080"/>
          </a:xfrm>
          <a:prstGeom prst="rect">
            <a:avLst/>
          </a:prstGeom>
          <a:noFill/>
        </p:spPr>
        <p:txBody>
          <a:bodyPr wrap="square" lIns="0" tIns="0" rIns="0" bIns="0" anchor="t">
            <a:spAutoFit/>
          </a:bodyPr>
          <a:lstStyle/>
          <a:p>
            <a:pPr algn="l">
              <a:lnSpc>
                <a:spcPct val="100000"/>
              </a:lnSpc>
            </a:pPr>
            <a:r>
              <a:rPr sz="2800" b="1" i="0">
                <a:solidFill>
                  <a:srgbClr val="16232B"/>
                </a:solidFill>
                <a:latin typeface="Calibri"/>
              </a:rPr>
              <a:t>Prototipo funcional — arquitectura técnica</a:t>
            </a:r>
          </a:p>
        </p:txBody>
      </p:sp>
      <p:sp>
        <p:nvSpPr>
          <p:cNvPr id="4" name="Rectangle 3"/>
          <p:cNvSpPr/>
          <p:nvPr/>
        </p:nvSpPr>
        <p:spPr>
          <a:xfrm>
            <a:off x="548640" y="1271016"/>
            <a:ext cx="2743200" cy="27432"/>
          </a:xfrm>
          <a:prstGeom prst="rect">
            <a:avLst/>
          </a:prstGeom>
          <a:solidFill>
            <a:srgbClr val="D9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82496"/>
            <a:ext cx="10789920" cy="3657600"/>
          </a:xfrm>
          <a:prstGeom prst="rect">
            <a:avLst/>
          </a:prstGeom>
          <a:noFill/>
        </p:spPr>
        <p:txBody>
          <a:bodyPr wrap="square" lIns="0" tIns="0">
            <a:spAutoFit/>
          </a:bodyPr>
          <a:lstStyle/>
          <a:p>
            <a:pPr>
              <a:lnSpc>
                <a:spcPct val="112000"/>
              </a:lnSpc>
              <a:spcAft>
                <a:spcPts val="1000"/>
              </a:spcAft>
            </a:pPr>
            <a:r>
              <a:rPr sz="1700" b="1">
                <a:solidFill>
                  <a:srgbClr val="D9821F"/>
                </a:solidFill>
                <a:latin typeface="Calibri"/>
              </a:rPr>
              <a:t>—  </a:t>
            </a:r>
            <a:r>
              <a:rPr sz="1700">
                <a:solidFill>
                  <a:srgbClr val="16232B"/>
                </a:solidFill>
                <a:latin typeface="Calibri"/>
              </a:rPr>
              <a:t>Sin backend ni base de datos: el estado vive en memoria durante la sesión (etapa de prototipo).</a:t>
            </a:r>
          </a:p>
          <a:p>
            <a:pPr>
              <a:lnSpc>
                <a:spcPct val="112000"/>
              </a:lnSpc>
              <a:spcAft>
                <a:spcPts val="1000"/>
              </a:spcAft>
            </a:pPr>
            <a:r>
              <a:rPr sz="1700" b="1">
                <a:solidFill>
                  <a:srgbClr val="D9821F"/>
                </a:solidFill>
                <a:latin typeface="Calibri"/>
              </a:rPr>
              <a:t>—  </a:t>
            </a:r>
            <a:r>
              <a:rPr sz="1700">
                <a:solidFill>
                  <a:srgbClr val="16232B"/>
                </a:solidFill>
                <a:latin typeface="Calibri"/>
              </a:rPr>
              <a:t>APIs reales del dispositivo: Web Speech API para búsqueda por voz y expo-location para geolocalización del repartidor.</a:t>
            </a:r>
          </a:p>
          <a:p>
            <a:pPr>
              <a:lnSpc>
                <a:spcPct val="112000"/>
              </a:lnSpc>
              <a:spcAft>
                <a:spcPts val="1000"/>
              </a:spcAft>
            </a:pPr>
            <a:r>
              <a:rPr sz="1700" b="1">
                <a:solidFill>
                  <a:srgbClr val="D9821F"/>
                </a:solidFill>
                <a:latin typeface="Calibri"/>
              </a:rPr>
              <a:t>—  </a:t>
            </a:r>
            <a:r>
              <a:rPr sz="1700">
                <a:solidFill>
                  <a:srgbClr val="16232B"/>
                </a:solidFill>
                <a:latin typeface="Calibri"/>
              </a:rPr>
              <a:t>Stack: React + TypeScript + Vite (web) · React Native + Expo + TypeScript (móvil).</a:t>
            </a:r>
          </a:p>
        </p:txBody>
      </p:sp>
      <p:sp>
        <p:nvSpPr>
          <p:cNvPr id="6" name="Rectangle 5"/>
          <p:cNvSpPr/>
          <p:nvPr/>
        </p:nvSpPr>
        <p:spPr>
          <a:xfrm>
            <a:off x="0" y="6528816"/>
            <a:ext cx="12191695" cy="18288"/>
          </a:xfrm>
          <a:prstGeom prst="rect">
            <a:avLst/>
          </a:prstGeom>
          <a:solidFill>
            <a:srgbClr val="C9D2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7315200" cy="274320"/>
          </a:xfrm>
          <a:prstGeom prst="rect">
            <a:avLst/>
          </a:prstGeom>
          <a:noFill/>
        </p:spPr>
        <p:txBody>
          <a:bodyPr wrap="square" lIns="0" tIns="0" rIns="0" bIns="0" anchor="t">
            <a:spAutoFit/>
          </a:bodyPr>
          <a:lstStyle/>
          <a:p>
            <a:pPr algn="l">
              <a:lnSpc>
                <a:spcPct val="100000"/>
              </a:lnSpc>
            </a:pPr>
            <a:r>
              <a:rPr sz="900" b="0" i="0">
                <a:solidFill>
                  <a:srgbClr val="57666C"/>
                </a:solidFill>
                <a:latin typeface="Calibri"/>
              </a:rPr>
              <a:t>FoodVoice · AINC422 · Semana 4</a:t>
            </a:r>
          </a:p>
        </p:txBody>
      </p:sp>
      <p:sp>
        <p:nvSpPr>
          <p:cNvPr id="8" name="TextBox 7"/>
          <p:cNvSpPr txBox="1"/>
          <p:nvPr/>
        </p:nvSpPr>
        <p:spPr>
          <a:xfrm>
            <a:off x="11094415" y="6583680"/>
            <a:ext cx="640080" cy="274320"/>
          </a:xfrm>
          <a:prstGeom prst="rect">
            <a:avLst/>
          </a:prstGeom>
          <a:noFill/>
        </p:spPr>
        <p:txBody>
          <a:bodyPr wrap="square" lIns="0" tIns="0" rIns="0" bIns="0" anchor="t">
            <a:spAutoFit/>
          </a:bodyPr>
          <a:lstStyle/>
          <a:p>
            <a:pPr algn="r">
              <a:lnSpc>
                <a:spcPct val="100000"/>
              </a:lnSpc>
            </a:pPr>
            <a:r>
              <a:rPr sz="900" b="0" i="0">
                <a:solidFill>
                  <a:srgbClr val="57666C"/>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6F4"/>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lgn="l">
              <a:lnSpc>
                <a:spcPct val="100000"/>
              </a:lnSpc>
            </a:pPr>
            <a:r>
              <a:rPr sz="1200" b="1" i="0">
                <a:solidFill>
                  <a:srgbClr val="D9821F"/>
                </a:solidFill>
                <a:latin typeface="Calibri"/>
              </a:rPr>
              <a:t>DATOS Y PROTOTIPO</a:t>
            </a:r>
          </a:p>
        </p:txBody>
      </p:sp>
      <p:sp>
        <p:nvSpPr>
          <p:cNvPr id="3" name="TextBox 2"/>
          <p:cNvSpPr txBox="1"/>
          <p:nvPr/>
        </p:nvSpPr>
        <p:spPr>
          <a:xfrm>
            <a:off x="548640" y="704088"/>
            <a:ext cx="11064240" cy="640080"/>
          </a:xfrm>
          <a:prstGeom prst="rect">
            <a:avLst/>
          </a:prstGeom>
          <a:noFill/>
        </p:spPr>
        <p:txBody>
          <a:bodyPr wrap="square" lIns="0" tIns="0" rIns="0" bIns="0" anchor="t">
            <a:spAutoFit/>
          </a:bodyPr>
          <a:lstStyle/>
          <a:p>
            <a:pPr algn="l">
              <a:lnSpc>
                <a:spcPct val="100000"/>
              </a:lnSpc>
            </a:pPr>
            <a:r>
              <a:rPr sz="2800" b="1" i="0">
                <a:solidFill>
                  <a:srgbClr val="16232B"/>
                </a:solidFill>
                <a:latin typeface="Calibri"/>
              </a:rPr>
              <a:t>Prototipo funcional — demostración</a:t>
            </a:r>
          </a:p>
        </p:txBody>
      </p:sp>
      <p:sp>
        <p:nvSpPr>
          <p:cNvPr id="4" name="Rectangle 3"/>
          <p:cNvSpPr/>
          <p:nvPr/>
        </p:nvSpPr>
        <p:spPr>
          <a:xfrm>
            <a:off x="548640" y="1271016"/>
            <a:ext cx="2743200" cy="27432"/>
          </a:xfrm>
          <a:prstGeom prst="rect">
            <a:avLst/>
          </a:prstGeom>
          <a:solidFill>
            <a:srgbClr val="D9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99616"/>
            <a:ext cx="10881360" cy="600164"/>
          </a:xfrm>
          <a:prstGeom prst="rect">
            <a:avLst/>
          </a:prstGeom>
          <a:noFill/>
        </p:spPr>
        <p:txBody>
          <a:bodyPr wrap="square" lIns="0" tIns="0" rIns="0" bIns="0" anchor="t">
            <a:spAutoFit/>
          </a:bodyPr>
          <a:lstStyle/>
          <a:p>
            <a:pPr algn="l">
              <a:lnSpc>
                <a:spcPct val="100000"/>
              </a:lnSpc>
            </a:pPr>
            <a:r>
              <a:rPr sz="1300" b="0" i="1" dirty="0" err="1">
                <a:solidFill>
                  <a:srgbClr val="57666C"/>
                </a:solidFill>
                <a:latin typeface="Calibri"/>
              </a:rPr>
              <a:t>Flujo</a:t>
            </a:r>
            <a:r>
              <a:rPr sz="1300" b="0" i="1" dirty="0">
                <a:solidFill>
                  <a:srgbClr val="57666C"/>
                </a:solidFill>
                <a:latin typeface="Calibri"/>
              </a:rPr>
              <a:t> web: </a:t>
            </a:r>
            <a:r>
              <a:rPr sz="1300" b="0" i="1" dirty="0" err="1">
                <a:solidFill>
                  <a:srgbClr val="57666C"/>
                </a:solidFill>
                <a:latin typeface="Calibri"/>
              </a:rPr>
              <a:t>catálogo</a:t>
            </a:r>
            <a:r>
              <a:rPr sz="1300" b="0" i="1" dirty="0">
                <a:solidFill>
                  <a:srgbClr val="57666C"/>
                </a:solidFill>
                <a:latin typeface="Calibri"/>
              </a:rPr>
              <a:t> → </a:t>
            </a:r>
            <a:r>
              <a:rPr sz="1300" b="0" i="1" dirty="0" err="1">
                <a:solidFill>
                  <a:srgbClr val="57666C"/>
                </a:solidFill>
                <a:latin typeface="Calibri"/>
              </a:rPr>
              <a:t>carrito</a:t>
            </a:r>
            <a:r>
              <a:rPr sz="1300" b="0" i="1" dirty="0">
                <a:solidFill>
                  <a:srgbClr val="57666C"/>
                </a:solidFill>
                <a:latin typeface="Calibri"/>
              </a:rPr>
              <a:t> → </a:t>
            </a:r>
            <a:r>
              <a:rPr sz="1300" b="0" i="1" dirty="0" err="1">
                <a:solidFill>
                  <a:srgbClr val="57666C"/>
                </a:solidFill>
                <a:latin typeface="Calibri"/>
              </a:rPr>
              <a:t>pedidos</a:t>
            </a:r>
            <a:r>
              <a:rPr sz="1300" b="0" i="1" dirty="0">
                <a:solidFill>
                  <a:srgbClr val="57666C"/>
                </a:solidFill>
                <a:latin typeface="Calibri"/>
              </a:rPr>
              <a:t> </a:t>
            </a:r>
            <a:r>
              <a:rPr sz="1300" b="0" i="1" dirty="0" err="1">
                <a:solidFill>
                  <a:srgbClr val="57666C"/>
                </a:solidFill>
                <a:latin typeface="Calibri"/>
              </a:rPr>
              <a:t>entrantes</a:t>
            </a:r>
            <a:r>
              <a:rPr sz="1300" b="0" i="1" dirty="0">
                <a:solidFill>
                  <a:srgbClr val="57666C"/>
                </a:solidFill>
                <a:latin typeface="Calibri"/>
              </a:rPr>
              <a:t> → </a:t>
            </a:r>
            <a:r>
              <a:rPr sz="1300" b="0" i="1" dirty="0" err="1">
                <a:solidFill>
                  <a:srgbClr val="57666C"/>
                </a:solidFill>
                <a:latin typeface="Calibri"/>
              </a:rPr>
              <a:t>trazabilidad</a:t>
            </a:r>
            <a:r>
              <a:rPr sz="1300" b="0" i="1" dirty="0">
                <a:solidFill>
                  <a:srgbClr val="57666C"/>
                </a:solidFill>
                <a:latin typeface="Calibri"/>
              </a:rPr>
              <a:t>. </a:t>
            </a:r>
            <a:r>
              <a:rPr sz="1300" b="0" i="1" dirty="0" err="1">
                <a:solidFill>
                  <a:srgbClr val="57666C"/>
                </a:solidFill>
                <a:latin typeface="Calibri"/>
              </a:rPr>
              <a:t>Flujo</a:t>
            </a:r>
            <a:r>
              <a:rPr sz="1300" b="0" i="1" dirty="0">
                <a:solidFill>
                  <a:srgbClr val="57666C"/>
                </a:solidFill>
                <a:latin typeface="Calibri"/>
              </a:rPr>
              <a:t> </a:t>
            </a:r>
            <a:r>
              <a:rPr sz="1300" b="0" i="1" dirty="0" err="1">
                <a:solidFill>
                  <a:srgbClr val="57666C"/>
                </a:solidFill>
                <a:latin typeface="Calibri"/>
              </a:rPr>
              <a:t>móvil</a:t>
            </a:r>
            <a:r>
              <a:rPr sz="1300" b="0" i="1" dirty="0">
                <a:solidFill>
                  <a:srgbClr val="57666C"/>
                </a:solidFill>
                <a:latin typeface="Calibri"/>
              </a:rPr>
              <a:t>: </a:t>
            </a:r>
            <a:r>
              <a:rPr sz="1300" b="0" i="1" dirty="0" err="1">
                <a:solidFill>
                  <a:srgbClr val="57666C"/>
                </a:solidFill>
                <a:latin typeface="Calibri"/>
              </a:rPr>
              <a:t>pedido</a:t>
            </a:r>
            <a:r>
              <a:rPr sz="1300" b="0" i="1" dirty="0">
                <a:solidFill>
                  <a:srgbClr val="57666C"/>
                </a:solidFill>
                <a:latin typeface="Calibri"/>
              </a:rPr>
              <a:t> </a:t>
            </a:r>
            <a:r>
              <a:rPr sz="1300" b="0" i="1" dirty="0" err="1">
                <a:solidFill>
                  <a:srgbClr val="57666C"/>
                </a:solidFill>
                <a:latin typeface="Calibri"/>
              </a:rPr>
              <a:t>asignado</a:t>
            </a:r>
            <a:r>
              <a:rPr sz="1300" b="0" i="1" dirty="0">
                <a:solidFill>
                  <a:srgbClr val="57666C"/>
                </a:solidFill>
                <a:latin typeface="Calibri"/>
              </a:rPr>
              <a:t> con GPS real → </a:t>
            </a:r>
            <a:r>
              <a:rPr sz="1300" b="0" i="1" dirty="0" err="1">
                <a:solidFill>
                  <a:srgbClr val="57666C"/>
                </a:solidFill>
                <a:latin typeface="Calibri"/>
              </a:rPr>
              <a:t>entrega</a:t>
            </a:r>
            <a:r>
              <a:rPr sz="1300" b="0" i="1" dirty="0">
                <a:solidFill>
                  <a:srgbClr val="57666C"/>
                </a:solidFill>
                <a:latin typeface="Calibri"/>
              </a:rPr>
              <a:t> </a:t>
            </a:r>
            <a:r>
              <a:rPr sz="1300" b="0" i="1" dirty="0" err="1">
                <a:solidFill>
                  <a:srgbClr val="57666C"/>
                </a:solidFill>
                <a:latin typeface="Calibri"/>
              </a:rPr>
              <a:t>confirmada</a:t>
            </a:r>
            <a:r>
              <a:rPr sz="1300" b="0" i="1" dirty="0">
                <a:solidFill>
                  <a:srgbClr val="57666C"/>
                </a:solidFill>
                <a:latin typeface="Calibri"/>
              </a:rPr>
              <a:t>.</a:t>
            </a:r>
            <a:endParaRPr lang="es-CL" sz="1300" b="0" i="1" dirty="0">
              <a:solidFill>
                <a:srgbClr val="57666C"/>
              </a:solidFill>
              <a:latin typeface="Calibri"/>
            </a:endParaRPr>
          </a:p>
          <a:p>
            <a:r>
              <a:rPr lang="es-CL" sz="1300" i="1" dirty="0">
                <a:solidFill>
                  <a:srgbClr val="57666C"/>
                </a:solidFill>
                <a:hlinkClick r:id="rId3"/>
              </a:rPr>
              <a:t>http://localhost:5173/</a:t>
            </a:r>
            <a:endParaRPr lang="es-CL" sz="1300" i="1" dirty="0">
              <a:solidFill>
                <a:srgbClr val="57666C"/>
              </a:solidFill>
            </a:endParaRPr>
          </a:p>
          <a:p>
            <a:endParaRPr lang="es-CL" sz="1300" b="0" i="1" dirty="0">
              <a:solidFill>
                <a:srgbClr val="57666C"/>
              </a:solidFill>
              <a:latin typeface="Calibri"/>
            </a:endParaRPr>
          </a:p>
        </p:txBody>
      </p:sp>
      <p:pic>
        <p:nvPicPr>
          <p:cNvPr id="6" name="Picture 5" descr="02-catalogo.png"/>
          <p:cNvPicPr>
            <a:picLocks noChangeAspect="1"/>
          </p:cNvPicPr>
          <p:nvPr/>
        </p:nvPicPr>
        <p:blipFill>
          <a:blip r:embed="rId4"/>
          <a:stretch>
            <a:fillRect/>
          </a:stretch>
        </p:blipFill>
        <p:spPr>
          <a:xfrm>
            <a:off x="470118" y="2103120"/>
            <a:ext cx="3796784" cy="3037427"/>
          </a:xfrm>
          <a:prstGeom prst="rect">
            <a:avLst/>
          </a:prstGeom>
        </p:spPr>
      </p:pic>
      <p:pic>
        <p:nvPicPr>
          <p:cNvPr id="7" name="Picture 6" descr="12-admin-trazabilidad-simulada.png"/>
          <p:cNvPicPr>
            <a:picLocks noChangeAspect="1"/>
          </p:cNvPicPr>
          <p:nvPr/>
        </p:nvPicPr>
        <p:blipFill>
          <a:blip r:embed="rId5"/>
          <a:stretch>
            <a:fillRect/>
          </a:stretch>
        </p:blipFill>
        <p:spPr>
          <a:xfrm>
            <a:off x="4541221" y="2103120"/>
            <a:ext cx="3796784" cy="3037427"/>
          </a:xfrm>
          <a:prstGeom prst="rect">
            <a:avLst/>
          </a:prstGeom>
        </p:spPr>
      </p:pic>
      <p:pic>
        <p:nvPicPr>
          <p:cNvPr id="8" name="Picture 7" descr="01-pedido-mapa.png"/>
          <p:cNvPicPr>
            <a:picLocks noChangeAspect="1"/>
          </p:cNvPicPr>
          <p:nvPr/>
        </p:nvPicPr>
        <p:blipFill>
          <a:blip r:embed="rId6"/>
          <a:stretch>
            <a:fillRect/>
          </a:stretch>
        </p:blipFill>
        <p:spPr>
          <a:xfrm>
            <a:off x="8612324" y="2103120"/>
            <a:ext cx="1417466" cy="3037427"/>
          </a:xfrm>
          <a:prstGeom prst="rect">
            <a:avLst/>
          </a:prstGeom>
        </p:spPr>
      </p:pic>
      <p:pic>
        <p:nvPicPr>
          <p:cNvPr id="9" name="Picture 8" descr="04-entregado.png"/>
          <p:cNvPicPr>
            <a:picLocks noChangeAspect="1"/>
          </p:cNvPicPr>
          <p:nvPr/>
        </p:nvPicPr>
        <p:blipFill>
          <a:blip r:embed="rId7"/>
          <a:stretch>
            <a:fillRect/>
          </a:stretch>
        </p:blipFill>
        <p:spPr>
          <a:xfrm>
            <a:off x="10304109" y="2103120"/>
            <a:ext cx="1417466" cy="3037427"/>
          </a:xfrm>
          <a:prstGeom prst="rect">
            <a:avLst/>
          </a:prstGeom>
        </p:spPr>
      </p:pic>
      <p:sp>
        <p:nvSpPr>
          <p:cNvPr id="10" name="Rectangle 9"/>
          <p:cNvSpPr/>
          <p:nvPr/>
        </p:nvSpPr>
        <p:spPr>
          <a:xfrm>
            <a:off x="0" y="6528816"/>
            <a:ext cx="12191695" cy="18288"/>
          </a:xfrm>
          <a:prstGeom prst="rect">
            <a:avLst/>
          </a:prstGeom>
          <a:solidFill>
            <a:srgbClr val="C9D2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6583680"/>
            <a:ext cx="7315200" cy="274320"/>
          </a:xfrm>
          <a:prstGeom prst="rect">
            <a:avLst/>
          </a:prstGeom>
          <a:noFill/>
        </p:spPr>
        <p:txBody>
          <a:bodyPr wrap="square" lIns="0" tIns="0" rIns="0" bIns="0" anchor="t">
            <a:spAutoFit/>
          </a:bodyPr>
          <a:lstStyle/>
          <a:p>
            <a:pPr algn="l">
              <a:lnSpc>
                <a:spcPct val="100000"/>
              </a:lnSpc>
            </a:pPr>
            <a:r>
              <a:rPr sz="900" b="0" i="0">
                <a:solidFill>
                  <a:srgbClr val="57666C"/>
                </a:solidFill>
                <a:latin typeface="Calibri"/>
              </a:rPr>
              <a:t>FoodVoice · AINC422 · Semana 4</a:t>
            </a:r>
          </a:p>
        </p:txBody>
      </p:sp>
      <p:sp>
        <p:nvSpPr>
          <p:cNvPr id="12" name="TextBox 11"/>
          <p:cNvSpPr txBox="1"/>
          <p:nvPr/>
        </p:nvSpPr>
        <p:spPr>
          <a:xfrm>
            <a:off x="11094415" y="6583680"/>
            <a:ext cx="640080" cy="274320"/>
          </a:xfrm>
          <a:prstGeom prst="rect">
            <a:avLst/>
          </a:prstGeom>
          <a:noFill/>
        </p:spPr>
        <p:txBody>
          <a:bodyPr wrap="square" lIns="0" tIns="0" rIns="0" bIns="0" anchor="t">
            <a:spAutoFit/>
          </a:bodyPr>
          <a:lstStyle/>
          <a:p>
            <a:pPr algn="r">
              <a:lnSpc>
                <a:spcPct val="100000"/>
              </a:lnSpc>
            </a:pPr>
            <a:r>
              <a:rPr sz="900" b="0" i="0">
                <a:solidFill>
                  <a:srgbClr val="57666C"/>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6F4"/>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lgn="l">
              <a:lnSpc>
                <a:spcPct val="100000"/>
              </a:lnSpc>
            </a:pPr>
            <a:r>
              <a:rPr sz="1200" b="1" i="0">
                <a:solidFill>
                  <a:srgbClr val="D9821F"/>
                </a:solidFill>
                <a:latin typeface="Calibri"/>
              </a:rPr>
              <a:t>GESTIÓN Y CIERRE</a:t>
            </a:r>
          </a:p>
        </p:txBody>
      </p:sp>
      <p:sp>
        <p:nvSpPr>
          <p:cNvPr id="3" name="TextBox 2"/>
          <p:cNvSpPr txBox="1"/>
          <p:nvPr/>
        </p:nvSpPr>
        <p:spPr>
          <a:xfrm>
            <a:off x="548640" y="704088"/>
            <a:ext cx="11064240" cy="640080"/>
          </a:xfrm>
          <a:prstGeom prst="rect">
            <a:avLst/>
          </a:prstGeom>
          <a:noFill/>
        </p:spPr>
        <p:txBody>
          <a:bodyPr wrap="square" lIns="0" tIns="0" rIns="0" bIns="0" anchor="t">
            <a:spAutoFit/>
          </a:bodyPr>
          <a:lstStyle/>
          <a:p>
            <a:pPr algn="l">
              <a:lnSpc>
                <a:spcPct val="100000"/>
              </a:lnSpc>
            </a:pPr>
            <a:r>
              <a:rPr sz="2800" b="1" i="0">
                <a:solidFill>
                  <a:srgbClr val="16232B"/>
                </a:solidFill>
                <a:latin typeface="Calibri"/>
              </a:rPr>
              <a:t>Repositorio y gestión de la configuración</a:t>
            </a:r>
          </a:p>
        </p:txBody>
      </p:sp>
      <p:sp>
        <p:nvSpPr>
          <p:cNvPr id="4" name="Rectangle 3"/>
          <p:cNvSpPr/>
          <p:nvPr/>
        </p:nvSpPr>
        <p:spPr>
          <a:xfrm>
            <a:off x="548640" y="1271016"/>
            <a:ext cx="2743200" cy="27432"/>
          </a:xfrm>
          <a:prstGeom prst="rect">
            <a:avLst/>
          </a:prstGeom>
          <a:solidFill>
            <a:srgbClr val="D9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591056"/>
            <a:ext cx="6675120" cy="3657600"/>
          </a:xfrm>
          <a:prstGeom prst="rect">
            <a:avLst/>
          </a:prstGeom>
          <a:noFill/>
        </p:spPr>
        <p:txBody>
          <a:bodyPr wrap="square" lIns="0" tIns="0">
            <a:spAutoFit/>
          </a:bodyPr>
          <a:lstStyle/>
          <a:p>
            <a:pPr>
              <a:lnSpc>
                <a:spcPct val="112000"/>
              </a:lnSpc>
              <a:spcAft>
                <a:spcPts val="1000"/>
              </a:spcAft>
            </a:pPr>
            <a:r>
              <a:rPr sz="1500" b="1">
                <a:solidFill>
                  <a:srgbClr val="D9821F"/>
                </a:solidFill>
                <a:latin typeface="Calibri"/>
              </a:rPr>
              <a:t>—  </a:t>
            </a:r>
            <a:r>
              <a:rPr sz="1500">
                <a:solidFill>
                  <a:srgbClr val="16232B"/>
                </a:solidFill>
                <a:latin typeface="Calibri"/>
              </a:rPr>
              <a:t>Control de versiones: Git / GitHub, repositorio foodvoice.</a:t>
            </a:r>
          </a:p>
          <a:p>
            <a:pPr>
              <a:lnSpc>
                <a:spcPct val="112000"/>
              </a:lnSpc>
              <a:spcAft>
                <a:spcPts val="1000"/>
              </a:spcAft>
            </a:pPr>
            <a:r>
              <a:rPr sz="1500" b="1">
                <a:solidFill>
                  <a:srgbClr val="D9821F"/>
                </a:solidFill>
                <a:latin typeface="Calibri"/>
              </a:rPr>
              <a:t>—  </a:t>
            </a:r>
            <a:r>
              <a:rPr sz="1500">
                <a:solidFill>
                  <a:srgbClr val="16232B"/>
                </a:solidFill>
                <a:latin typeface="Calibri"/>
              </a:rPr>
              <a:t>Ítems de configuración: código fuente, informes (AINC410 / AINC421 / AINC422), Product Backlog y diagramas.</a:t>
            </a:r>
          </a:p>
          <a:p>
            <a:pPr>
              <a:lnSpc>
                <a:spcPct val="112000"/>
              </a:lnSpc>
              <a:spcAft>
                <a:spcPts val="1000"/>
              </a:spcAft>
            </a:pPr>
            <a:r>
              <a:rPr sz="1500" b="1">
                <a:solidFill>
                  <a:srgbClr val="D9821F"/>
                </a:solidFill>
                <a:latin typeface="Calibri"/>
              </a:rPr>
              <a:t>—  </a:t>
            </a:r>
            <a:r>
              <a:rPr sz="1500">
                <a:solidFill>
                  <a:srgbClr val="16232B"/>
                </a:solidFill>
                <a:latin typeface="Calibri"/>
              </a:rPr>
              <a:t>Commits semánticos y estructura documentada en el README del repositorio.</a:t>
            </a:r>
          </a:p>
        </p:txBody>
      </p:sp>
      <p:sp>
        <p:nvSpPr>
          <p:cNvPr id="6" name="Rectangle 5"/>
          <p:cNvSpPr/>
          <p:nvPr/>
        </p:nvSpPr>
        <p:spPr>
          <a:xfrm>
            <a:off x="7498079" y="1591056"/>
            <a:ext cx="4160520" cy="2651760"/>
          </a:xfrm>
          <a:prstGeom prst="rect">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wrap="square" lIns="152400" tIns="127000" rtlCol="0" anchor="ctr"/>
          <a:lstStyle/>
          <a:p>
            <a:pPr algn="ctr"/>
            <a:r>
              <a:rPr sz="1150">
                <a:solidFill>
                  <a:srgbClr val="E7ECE9"/>
                </a:solidFill>
                <a:latin typeface="Consolas"/>
              </a:rPr>
              <a:t>foodvoice/</a:t>
            </a:r>
          </a:p>
          <a:p>
            <a:r>
              <a:rPr sz="1150">
                <a:solidFill>
                  <a:srgbClr val="E7ECE9"/>
                </a:solidFill>
                <a:latin typeface="Consolas"/>
              </a:rPr>
              <a:t>├── web/      React + TS + Vite</a:t>
            </a:r>
          </a:p>
          <a:p>
            <a:r>
              <a:rPr sz="1150">
                <a:solidFill>
                  <a:srgbClr val="E7ECE9"/>
                </a:solidFill>
                <a:latin typeface="Consolas"/>
              </a:rPr>
              <a:t>│   └── src/pages, state, hooks</a:t>
            </a:r>
          </a:p>
          <a:p>
            <a:r>
              <a:rPr sz="1150">
                <a:solidFill>
                  <a:srgbClr val="E7ECE9"/>
                </a:solidFill>
                <a:latin typeface="Consolas"/>
              </a:rPr>
              <a:t>├── mobile/   Expo + React Native + TS</a:t>
            </a:r>
          </a:p>
          <a:p>
            <a:r>
              <a:rPr sz="1150">
                <a:solidFill>
                  <a:srgbClr val="E7ECE9"/>
                </a:solidFill>
                <a:latin typeface="Consolas"/>
              </a:rPr>
              <a:t>│   └── src/screens, hooks</a:t>
            </a:r>
          </a:p>
          <a:p>
            <a:r>
              <a:rPr sz="1150">
                <a:solidFill>
                  <a:srgbClr val="E7ECE9"/>
                </a:solidFill>
                <a:latin typeface="Consolas"/>
              </a:rPr>
              <a:t>├── README.md</a:t>
            </a:r>
          </a:p>
          <a:p>
            <a:r>
              <a:rPr sz="1150">
                <a:solidFill>
                  <a:srgbClr val="E7ECE9"/>
                </a:solidFill>
                <a:latin typeface="Consolas"/>
              </a:rPr>
              <a:t>└── .gitignore</a:t>
            </a:r>
          </a:p>
        </p:txBody>
      </p:sp>
      <p:sp>
        <p:nvSpPr>
          <p:cNvPr id="7" name="Rectangle 6"/>
          <p:cNvSpPr/>
          <p:nvPr/>
        </p:nvSpPr>
        <p:spPr>
          <a:xfrm>
            <a:off x="0" y="6528816"/>
            <a:ext cx="12191695" cy="18288"/>
          </a:xfrm>
          <a:prstGeom prst="rect">
            <a:avLst/>
          </a:prstGeom>
          <a:solidFill>
            <a:srgbClr val="C9D2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83680"/>
            <a:ext cx="7315200" cy="274320"/>
          </a:xfrm>
          <a:prstGeom prst="rect">
            <a:avLst/>
          </a:prstGeom>
          <a:noFill/>
        </p:spPr>
        <p:txBody>
          <a:bodyPr wrap="square" lIns="0" tIns="0" rIns="0" bIns="0" anchor="t">
            <a:spAutoFit/>
          </a:bodyPr>
          <a:lstStyle/>
          <a:p>
            <a:pPr algn="l">
              <a:lnSpc>
                <a:spcPct val="100000"/>
              </a:lnSpc>
            </a:pPr>
            <a:r>
              <a:rPr sz="900" b="0" i="0">
                <a:solidFill>
                  <a:srgbClr val="57666C"/>
                </a:solidFill>
                <a:latin typeface="Calibri"/>
              </a:rPr>
              <a:t>FoodVoice · AINC422 · Semana 4</a:t>
            </a:r>
          </a:p>
        </p:txBody>
      </p:sp>
      <p:sp>
        <p:nvSpPr>
          <p:cNvPr id="9" name="TextBox 8"/>
          <p:cNvSpPr txBox="1"/>
          <p:nvPr/>
        </p:nvSpPr>
        <p:spPr>
          <a:xfrm>
            <a:off x="11094415" y="6583680"/>
            <a:ext cx="640080" cy="274320"/>
          </a:xfrm>
          <a:prstGeom prst="rect">
            <a:avLst/>
          </a:prstGeom>
          <a:noFill/>
        </p:spPr>
        <p:txBody>
          <a:bodyPr wrap="square" lIns="0" tIns="0" rIns="0" bIns="0" anchor="t">
            <a:spAutoFit/>
          </a:bodyPr>
          <a:lstStyle/>
          <a:p>
            <a:pPr algn="r">
              <a:lnSpc>
                <a:spcPct val="100000"/>
              </a:lnSpc>
            </a:pPr>
            <a:r>
              <a:rPr sz="900" b="0" i="0">
                <a:solidFill>
                  <a:srgbClr val="57666C"/>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F6F4"/>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lgn="l">
              <a:lnSpc>
                <a:spcPct val="100000"/>
              </a:lnSpc>
            </a:pPr>
            <a:r>
              <a:rPr sz="1200" b="1" i="0">
                <a:solidFill>
                  <a:srgbClr val="D9821F"/>
                </a:solidFill>
                <a:latin typeface="Calibri"/>
              </a:rPr>
              <a:t>GESTIÓN Y CIERRE</a:t>
            </a:r>
          </a:p>
        </p:txBody>
      </p:sp>
      <p:sp>
        <p:nvSpPr>
          <p:cNvPr id="3" name="TextBox 2"/>
          <p:cNvSpPr txBox="1"/>
          <p:nvPr/>
        </p:nvSpPr>
        <p:spPr>
          <a:xfrm>
            <a:off x="548640" y="704088"/>
            <a:ext cx="11064240" cy="640080"/>
          </a:xfrm>
          <a:prstGeom prst="rect">
            <a:avLst/>
          </a:prstGeom>
          <a:noFill/>
        </p:spPr>
        <p:txBody>
          <a:bodyPr wrap="square" lIns="0" tIns="0" rIns="0" bIns="0" anchor="t">
            <a:spAutoFit/>
          </a:bodyPr>
          <a:lstStyle/>
          <a:p>
            <a:pPr algn="l">
              <a:lnSpc>
                <a:spcPct val="100000"/>
              </a:lnSpc>
            </a:pPr>
            <a:r>
              <a:rPr sz="2800" b="1" i="0">
                <a:solidFill>
                  <a:srgbClr val="16232B"/>
                </a:solidFill>
                <a:latin typeface="Calibri"/>
              </a:rPr>
              <a:t>Trazabilidad del MPV</a:t>
            </a:r>
          </a:p>
        </p:txBody>
      </p:sp>
      <p:sp>
        <p:nvSpPr>
          <p:cNvPr id="4" name="Rectangle 3"/>
          <p:cNvSpPr/>
          <p:nvPr/>
        </p:nvSpPr>
        <p:spPr>
          <a:xfrm>
            <a:off x="548640" y="1271016"/>
            <a:ext cx="2743200" cy="27432"/>
          </a:xfrm>
          <a:prstGeom prst="rect">
            <a:avLst/>
          </a:prstGeom>
          <a:solidFill>
            <a:srgbClr val="D9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48640" y="1545336"/>
          <a:ext cx="11064240" cy="4206240"/>
        </p:xfrm>
        <a:graphic>
          <a:graphicData uri="http://schemas.openxmlformats.org/drawingml/2006/table">
            <a:tbl>
              <a:tblPr firstRow="1" bandRow="1">
                <a:tableStyleId>{5C22544A-7EE6-4342-B048-85BDC9FD1C3A}</a:tableStyleId>
              </a:tblPr>
              <a:tblGrid>
                <a:gridCol w="983488">
                  <a:extLst>
                    <a:ext uri="{9D8B030D-6E8A-4147-A177-3AD203B41FA5}">
                      <a16:colId xmlns:a16="http://schemas.microsoft.com/office/drawing/2014/main" val="20000"/>
                    </a:ext>
                  </a:extLst>
                </a:gridCol>
                <a:gridCol w="1844040">
                  <a:extLst>
                    <a:ext uri="{9D8B030D-6E8A-4147-A177-3AD203B41FA5}">
                      <a16:colId xmlns:a16="http://schemas.microsoft.com/office/drawing/2014/main" val="20001"/>
                    </a:ext>
                  </a:extLst>
                </a:gridCol>
                <a:gridCol w="1475232">
                  <a:extLst>
                    <a:ext uri="{9D8B030D-6E8A-4147-A177-3AD203B41FA5}">
                      <a16:colId xmlns:a16="http://schemas.microsoft.com/office/drawing/2014/main" val="20002"/>
                    </a:ext>
                  </a:extLst>
                </a:gridCol>
                <a:gridCol w="4302760">
                  <a:extLst>
                    <a:ext uri="{9D8B030D-6E8A-4147-A177-3AD203B41FA5}">
                      <a16:colId xmlns:a16="http://schemas.microsoft.com/office/drawing/2014/main" val="20003"/>
                    </a:ext>
                  </a:extLst>
                </a:gridCol>
                <a:gridCol w="2458720">
                  <a:extLst>
                    <a:ext uri="{9D8B030D-6E8A-4147-A177-3AD203B41FA5}">
                      <a16:colId xmlns:a16="http://schemas.microsoft.com/office/drawing/2014/main" val="20004"/>
                    </a:ext>
                  </a:extLst>
                </a:gridCol>
              </a:tblGrid>
              <a:tr h="525780">
                <a:tc>
                  <a:txBody>
                    <a:bodyPr/>
                    <a:lstStyle/>
                    <a:p>
                      <a:pPr>
                        <a:defRPr sz="1050" b="1">
                          <a:solidFill>
                            <a:srgbClr val="FFFFFF"/>
                          </a:solidFill>
                          <a:latin typeface="Calibri"/>
                        </a:defRPr>
                      </a:pPr>
                      <a:r>
                        <a:t>HU</a:t>
                      </a:r>
                    </a:p>
                  </a:txBody>
                  <a:tcPr marL="76200" marR="76200" marT="38100" marB="38100" anchor="ctr">
                    <a:solidFill>
                      <a:srgbClr val="D9821F"/>
                    </a:solidFill>
                  </a:tcPr>
                </a:tc>
                <a:tc>
                  <a:txBody>
                    <a:bodyPr/>
                    <a:lstStyle/>
                    <a:p>
                      <a:pPr>
                        <a:defRPr sz="1050" b="1">
                          <a:solidFill>
                            <a:srgbClr val="FFFFFF"/>
                          </a:solidFill>
                          <a:latin typeface="Calibri"/>
                        </a:defRPr>
                      </a:pPr>
                      <a:r>
                        <a:t>Caso de uso</a:t>
                      </a:r>
                    </a:p>
                  </a:txBody>
                  <a:tcPr marL="76200" marR="76200" marT="38100" marB="38100" anchor="ctr">
                    <a:solidFill>
                      <a:srgbClr val="D9821F"/>
                    </a:solidFill>
                  </a:tcPr>
                </a:tc>
                <a:tc>
                  <a:txBody>
                    <a:bodyPr/>
                    <a:lstStyle/>
                    <a:p>
                      <a:pPr>
                        <a:defRPr sz="1050" b="1">
                          <a:solidFill>
                            <a:srgbClr val="FFFFFF"/>
                          </a:solidFill>
                          <a:latin typeface="Calibri"/>
                        </a:defRPr>
                      </a:pPr>
                      <a:r>
                        <a:t>Mockup</a:t>
                      </a:r>
                    </a:p>
                  </a:txBody>
                  <a:tcPr marL="76200" marR="76200" marT="38100" marB="38100" anchor="ctr">
                    <a:solidFill>
                      <a:srgbClr val="D9821F"/>
                    </a:solidFill>
                  </a:tcPr>
                </a:tc>
                <a:tc>
                  <a:txBody>
                    <a:bodyPr/>
                    <a:lstStyle/>
                    <a:p>
                      <a:pPr>
                        <a:defRPr sz="1050" b="1">
                          <a:solidFill>
                            <a:srgbClr val="FFFFFF"/>
                          </a:solidFill>
                          <a:latin typeface="Calibri"/>
                        </a:defRPr>
                      </a:pPr>
                      <a:r>
                        <a:t>Entidad de datos</a:t>
                      </a:r>
                    </a:p>
                  </a:txBody>
                  <a:tcPr marL="76200" marR="76200" marT="38100" marB="38100" anchor="ctr">
                    <a:solidFill>
                      <a:srgbClr val="D9821F"/>
                    </a:solidFill>
                  </a:tcPr>
                </a:tc>
                <a:tc>
                  <a:txBody>
                    <a:bodyPr/>
                    <a:lstStyle/>
                    <a:p>
                      <a:pPr>
                        <a:defRPr sz="1050" b="1">
                          <a:solidFill>
                            <a:srgbClr val="FFFFFF"/>
                          </a:solidFill>
                          <a:latin typeface="Calibri"/>
                        </a:defRPr>
                      </a:pPr>
                      <a:r>
                        <a:t>Estado</a:t>
                      </a:r>
                    </a:p>
                  </a:txBody>
                  <a:tcPr marL="76200" marR="76200" marT="38100" marB="38100" anchor="ctr">
                    <a:solidFill>
                      <a:srgbClr val="D9821F"/>
                    </a:solidFill>
                  </a:tcPr>
                </a:tc>
                <a:extLst>
                  <a:ext uri="{0D108BD9-81ED-4DB2-BD59-A6C34878D82A}">
                    <a16:rowId xmlns:a16="http://schemas.microsoft.com/office/drawing/2014/main" val="10000"/>
                  </a:ext>
                </a:extLst>
              </a:tr>
              <a:tr h="525780">
                <a:tc>
                  <a:txBody>
                    <a:bodyPr/>
                    <a:lstStyle/>
                    <a:p>
                      <a:pPr>
                        <a:defRPr sz="1050">
                          <a:solidFill>
                            <a:srgbClr val="16232B"/>
                          </a:solidFill>
                          <a:latin typeface="Calibri"/>
                        </a:defRPr>
                      </a:pPr>
                      <a:r>
                        <a:t>HU-01</a:t>
                      </a:r>
                    </a:p>
                  </a:txBody>
                  <a:tcPr marL="76200" marR="76200" marT="25400" marB="25400" anchor="ctr">
                    <a:solidFill>
                      <a:srgbClr val="F3F6F4"/>
                    </a:solidFill>
                  </a:tcPr>
                </a:tc>
                <a:tc>
                  <a:txBody>
                    <a:bodyPr/>
                    <a:lstStyle/>
                    <a:p>
                      <a:pPr>
                        <a:defRPr sz="1050">
                          <a:solidFill>
                            <a:srgbClr val="16232B"/>
                          </a:solidFill>
                          <a:latin typeface="Calibri"/>
                        </a:defRPr>
                      </a:pPr>
                      <a:r>
                        <a:t>UC1, UC3, UC9</a:t>
                      </a:r>
                    </a:p>
                  </a:txBody>
                  <a:tcPr marL="76200" marR="76200" marT="25400" marB="25400" anchor="ctr">
                    <a:solidFill>
                      <a:srgbClr val="F3F6F4"/>
                    </a:solidFill>
                  </a:tcPr>
                </a:tc>
                <a:tc>
                  <a:txBody>
                    <a:bodyPr/>
                    <a:lstStyle/>
                    <a:p>
                      <a:pPr>
                        <a:defRPr sz="1050">
                          <a:solidFill>
                            <a:srgbClr val="16232B"/>
                          </a:solidFill>
                          <a:latin typeface="Calibri"/>
                        </a:defRPr>
                      </a:pPr>
                      <a:r>
                        <a:t>W1–W3</a:t>
                      </a:r>
                    </a:p>
                  </a:txBody>
                  <a:tcPr marL="76200" marR="76200" marT="25400" marB="25400" anchor="ctr">
                    <a:solidFill>
                      <a:srgbClr val="F3F6F4"/>
                    </a:solidFill>
                  </a:tcPr>
                </a:tc>
                <a:tc>
                  <a:txBody>
                    <a:bodyPr/>
                    <a:lstStyle/>
                    <a:p>
                      <a:pPr>
                        <a:defRPr sz="1050">
                          <a:solidFill>
                            <a:srgbClr val="16232B"/>
                          </a:solidFill>
                          <a:latin typeface="Calibri"/>
                        </a:defRPr>
                      </a:pPr>
                      <a:r>
                        <a:t>PEDIDO, DETALLE_PEDIDO, HISTORIAL_ESTADO</a:t>
                      </a:r>
                    </a:p>
                  </a:txBody>
                  <a:tcPr marL="76200" marR="76200" marT="25400" marB="25400" anchor="ctr">
                    <a:solidFill>
                      <a:srgbClr val="F3F6F4"/>
                    </a:solidFill>
                  </a:tcPr>
                </a:tc>
                <a:tc>
                  <a:txBody>
                    <a:bodyPr/>
                    <a:lstStyle/>
                    <a:p>
                      <a:pPr>
                        <a:defRPr sz="1050">
                          <a:solidFill>
                            <a:srgbClr val="16232B"/>
                          </a:solidFill>
                          <a:latin typeface="Calibri"/>
                        </a:defRPr>
                      </a:pPr>
                      <a:r>
                        <a:t>Implementado (web)</a:t>
                      </a:r>
                    </a:p>
                  </a:txBody>
                  <a:tcPr marL="76200" marR="76200" marT="25400" marB="25400" anchor="ctr">
                    <a:solidFill>
                      <a:srgbClr val="F3F6F4"/>
                    </a:solidFill>
                  </a:tcPr>
                </a:tc>
                <a:extLst>
                  <a:ext uri="{0D108BD9-81ED-4DB2-BD59-A6C34878D82A}">
                    <a16:rowId xmlns:a16="http://schemas.microsoft.com/office/drawing/2014/main" val="10001"/>
                  </a:ext>
                </a:extLst>
              </a:tr>
              <a:tr h="525780">
                <a:tc>
                  <a:txBody>
                    <a:bodyPr/>
                    <a:lstStyle/>
                    <a:p>
                      <a:pPr>
                        <a:defRPr sz="1050">
                          <a:solidFill>
                            <a:srgbClr val="16232B"/>
                          </a:solidFill>
                          <a:latin typeface="Calibri"/>
                        </a:defRPr>
                      </a:pPr>
                      <a:r>
                        <a:t>HU-02</a:t>
                      </a:r>
                    </a:p>
                  </a:txBody>
                  <a:tcPr marL="76200" marR="76200" marT="25400" marB="25400" anchor="ctr">
                    <a:solidFill>
                      <a:srgbClr val="FFFFFF"/>
                    </a:solidFill>
                  </a:tcPr>
                </a:tc>
                <a:tc>
                  <a:txBody>
                    <a:bodyPr/>
                    <a:lstStyle/>
                    <a:p>
                      <a:pPr>
                        <a:defRPr sz="1050">
                          <a:solidFill>
                            <a:srgbClr val="16232B"/>
                          </a:solidFill>
                          <a:latin typeface="Calibri"/>
                        </a:defRPr>
                      </a:pPr>
                      <a:r>
                        <a:t>UC4, UC5</a:t>
                      </a:r>
                    </a:p>
                  </a:txBody>
                  <a:tcPr marL="76200" marR="76200" marT="25400" marB="25400" anchor="ctr">
                    <a:solidFill>
                      <a:srgbClr val="FFFFFF"/>
                    </a:solidFill>
                  </a:tcPr>
                </a:tc>
                <a:tc>
                  <a:txBody>
                    <a:bodyPr/>
                    <a:lstStyle/>
                    <a:p>
                      <a:pPr>
                        <a:defRPr sz="1050">
                          <a:solidFill>
                            <a:srgbClr val="16232B"/>
                          </a:solidFill>
                          <a:latin typeface="Calibri"/>
                        </a:defRPr>
                      </a:pPr>
                      <a:r>
                        <a:t>W4, W5</a:t>
                      </a:r>
                    </a:p>
                  </a:txBody>
                  <a:tcPr marL="76200" marR="76200" marT="25400" marB="25400" anchor="ctr">
                    <a:solidFill>
                      <a:srgbClr val="FFFFFF"/>
                    </a:solidFill>
                  </a:tcPr>
                </a:tc>
                <a:tc>
                  <a:txBody>
                    <a:bodyPr/>
                    <a:lstStyle/>
                    <a:p>
                      <a:pPr>
                        <a:defRPr sz="1050">
                          <a:solidFill>
                            <a:srgbClr val="16232B"/>
                          </a:solidFill>
                          <a:latin typeface="Calibri"/>
                        </a:defRPr>
                      </a:pPr>
                      <a:r>
                        <a:t>PRODUCTO</a:t>
                      </a:r>
                    </a:p>
                  </a:txBody>
                  <a:tcPr marL="76200" marR="76200" marT="25400" marB="25400" anchor="ctr">
                    <a:solidFill>
                      <a:srgbClr val="FFFFFF"/>
                    </a:solidFill>
                  </a:tcPr>
                </a:tc>
                <a:tc>
                  <a:txBody>
                    <a:bodyPr/>
                    <a:lstStyle/>
                    <a:p>
                      <a:pPr>
                        <a:defRPr sz="1050">
                          <a:solidFill>
                            <a:srgbClr val="16232B"/>
                          </a:solidFill>
                          <a:latin typeface="Calibri"/>
                        </a:defRPr>
                      </a:pPr>
                      <a:r>
                        <a:t>Implementado (web)</a:t>
                      </a:r>
                    </a:p>
                  </a:txBody>
                  <a:tcPr marL="76200" marR="76200" marT="25400" marB="25400" anchor="ctr">
                    <a:solidFill>
                      <a:srgbClr val="FFFFFF"/>
                    </a:solidFill>
                  </a:tcPr>
                </a:tc>
                <a:extLst>
                  <a:ext uri="{0D108BD9-81ED-4DB2-BD59-A6C34878D82A}">
                    <a16:rowId xmlns:a16="http://schemas.microsoft.com/office/drawing/2014/main" val="10002"/>
                  </a:ext>
                </a:extLst>
              </a:tr>
              <a:tr h="525780">
                <a:tc>
                  <a:txBody>
                    <a:bodyPr/>
                    <a:lstStyle/>
                    <a:p>
                      <a:pPr>
                        <a:defRPr sz="1050">
                          <a:solidFill>
                            <a:srgbClr val="16232B"/>
                          </a:solidFill>
                          <a:latin typeface="Calibri"/>
                        </a:defRPr>
                      </a:pPr>
                      <a:r>
                        <a:t>HU-03</a:t>
                      </a:r>
                    </a:p>
                  </a:txBody>
                  <a:tcPr marL="76200" marR="76200" marT="25400" marB="25400" anchor="ctr">
                    <a:solidFill>
                      <a:srgbClr val="F3F6F4"/>
                    </a:solidFill>
                  </a:tcPr>
                </a:tc>
                <a:tc>
                  <a:txBody>
                    <a:bodyPr/>
                    <a:lstStyle/>
                    <a:p>
                      <a:pPr>
                        <a:defRPr sz="1050">
                          <a:solidFill>
                            <a:srgbClr val="16232B"/>
                          </a:solidFill>
                          <a:latin typeface="Calibri"/>
                        </a:defRPr>
                      </a:pPr>
                      <a:r>
                        <a:t>UC9, UC10</a:t>
                      </a:r>
                    </a:p>
                  </a:txBody>
                  <a:tcPr marL="76200" marR="76200" marT="25400" marB="25400" anchor="ctr">
                    <a:solidFill>
                      <a:srgbClr val="F3F6F4"/>
                    </a:solidFill>
                  </a:tcPr>
                </a:tc>
                <a:tc>
                  <a:txBody>
                    <a:bodyPr/>
                    <a:lstStyle/>
                    <a:p>
                      <a:pPr>
                        <a:defRPr sz="1050">
                          <a:solidFill>
                            <a:srgbClr val="16232B"/>
                          </a:solidFill>
                          <a:latin typeface="Calibri"/>
                        </a:defRPr>
                      </a:pPr>
                      <a:r>
                        <a:t>W3, W6</a:t>
                      </a:r>
                    </a:p>
                  </a:txBody>
                  <a:tcPr marL="76200" marR="76200" marT="25400" marB="25400" anchor="ctr">
                    <a:solidFill>
                      <a:srgbClr val="F3F6F4"/>
                    </a:solidFill>
                  </a:tcPr>
                </a:tc>
                <a:tc>
                  <a:txBody>
                    <a:bodyPr/>
                    <a:lstStyle/>
                    <a:p>
                      <a:pPr>
                        <a:defRPr sz="1050">
                          <a:solidFill>
                            <a:srgbClr val="16232B"/>
                          </a:solidFill>
                          <a:latin typeface="Calibri"/>
                        </a:defRPr>
                      </a:pPr>
                      <a:r>
                        <a:t>HISTORIAL_ESTADO</a:t>
                      </a:r>
                    </a:p>
                  </a:txBody>
                  <a:tcPr marL="76200" marR="76200" marT="25400" marB="25400" anchor="ctr">
                    <a:solidFill>
                      <a:srgbClr val="F3F6F4"/>
                    </a:solidFill>
                  </a:tcPr>
                </a:tc>
                <a:tc>
                  <a:txBody>
                    <a:bodyPr/>
                    <a:lstStyle/>
                    <a:p>
                      <a:pPr>
                        <a:defRPr sz="1050">
                          <a:solidFill>
                            <a:srgbClr val="16232B"/>
                          </a:solidFill>
                          <a:latin typeface="Calibri"/>
                        </a:defRPr>
                      </a:pPr>
                      <a:r>
                        <a:t>Implementado (web)</a:t>
                      </a:r>
                    </a:p>
                  </a:txBody>
                  <a:tcPr marL="76200" marR="76200" marT="25400" marB="25400" anchor="ctr">
                    <a:solidFill>
                      <a:srgbClr val="F3F6F4"/>
                    </a:solidFill>
                  </a:tcPr>
                </a:tc>
                <a:extLst>
                  <a:ext uri="{0D108BD9-81ED-4DB2-BD59-A6C34878D82A}">
                    <a16:rowId xmlns:a16="http://schemas.microsoft.com/office/drawing/2014/main" val="10003"/>
                  </a:ext>
                </a:extLst>
              </a:tr>
              <a:tr h="525780">
                <a:tc>
                  <a:txBody>
                    <a:bodyPr/>
                    <a:lstStyle/>
                    <a:p>
                      <a:pPr>
                        <a:defRPr sz="1050">
                          <a:solidFill>
                            <a:srgbClr val="16232B"/>
                          </a:solidFill>
                          <a:latin typeface="Calibri"/>
                        </a:defRPr>
                      </a:pPr>
                      <a:r>
                        <a:t>HU-04</a:t>
                      </a:r>
                    </a:p>
                  </a:txBody>
                  <a:tcPr marL="76200" marR="76200" marT="25400" marB="25400" anchor="ctr">
                    <a:solidFill>
                      <a:srgbClr val="FFFFFF"/>
                    </a:solidFill>
                  </a:tcPr>
                </a:tc>
                <a:tc>
                  <a:txBody>
                    <a:bodyPr/>
                    <a:lstStyle/>
                    <a:p>
                      <a:pPr>
                        <a:defRPr sz="1050">
                          <a:solidFill>
                            <a:srgbClr val="16232B"/>
                          </a:solidFill>
                          <a:latin typeface="Calibri"/>
                        </a:defRPr>
                      </a:pPr>
                      <a:r>
                        <a:t>UC6, UC7</a:t>
                      </a:r>
                    </a:p>
                  </a:txBody>
                  <a:tcPr marL="76200" marR="76200" marT="25400" marB="25400" anchor="ctr">
                    <a:solidFill>
                      <a:srgbClr val="FFFFFF"/>
                    </a:solidFill>
                  </a:tcPr>
                </a:tc>
                <a:tc>
                  <a:txBody>
                    <a:bodyPr/>
                    <a:lstStyle/>
                    <a:p>
                      <a:pPr>
                        <a:defRPr sz="1050">
                          <a:solidFill>
                            <a:srgbClr val="16232B"/>
                          </a:solidFill>
                          <a:latin typeface="Calibri"/>
                        </a:defRPr>
                      </a:pPr>
                      <a:r>
                        <a:t>M1, M2</a:t>
                      </a:r>
                    </a:p>
                  </a:txBody>
                  <a:tcPr marL="76200" marR="76200" marT="25400" marB="25400" anchor="ctr">
                    <a:solidFill>
                      <a:srgbClr val="FFFFFF"/>
                    </a:solidFill>
                  </a:tcPr>
                </a:tc>
                <a:tc>
                  <a:txBody>
                    <a:bodyPr/>
                    <a:lstStyle/>
                    <a:p>
                      <a:pPr>
                        <a:defRPr sz="1050">
                          <a:solidFill>
                            <a:srgbClr val="16232B"/>
                          </a:solidFill>
                          <a:latin typeface="Calibri"/>
                        </a:defRPr>
                      </a:pPr>
                      <a:r>
                        <a:t>UBICACION</a:t>
                      </a:r>
                    </a:p>
                  </a:txBody>
                  <a:tcPr marL="76200" marR="76200" marT="25400" marB="25400" anchor="ctr">
                    <a:solidFill>
                      <a:srgbClr val="FFFFFF"/>
                    </a:solidFill>
                  </a:tcPr>
                </a:tc>
                <a:tc>
                  <a:txBody>
                    <a:bodyPr/>
                    <a:lstStyle/>
                    <a:p>
                      <a:pPr>
                        <a:defRPr sz="1050">
                          <a:solidFill>
                            <a:srgbClr val="16232B"/>
                          </a:solidFill>
                          <a:latin typeface="Calibri"/>
                        </a:defRPr>
                      </a:pPr>
                      <a:r>
                        <a:t>Implementado (móvil)</a:t>
                      </a:r>
                    </a:p>
                  </a:txBody>
                  <a:tcPr marL="76200" marR="76200" marT="25400" marB="25400" anchor="ctr">
                    <a:solidFill>
                      <a:srgbClr val="FFFFFF"/>
                    </a:solidFill>
                  </a:tcPr>
                </a:tc>
                <a:extLst>
                  <a:ext uri="{0D108BD9-81ED-4DB2-BD59-A6C34878D82A}">
                    <a16:rowId xmlns:a16="http://schemas.microsoft.com/office/drawing/2014/main" val="10004"/>
                  </a:ext>
                </a:extLst>
              </a:tr>
              <a:tr h="525780">
                <a:tc>
                  <a:txBody>
                    <a:bodyPr/>
                    <a:lstStyle/>
                    <a:p>
                      <a:pPr>
                        <a:defRPr sz="1050">
                          <a:solidFill>
                            <a:srgbClr val="16232B"/>
                          </a:solidFill>
                          <a:latin typeface="Calibri"/>
                        </a:defRPr>
                      </a:pPr>
                      <a:r>
                        <a:t>HU-06</a:t>
                      </a:r>
                    </a:p>
                  </a:txBody>
                  <a:tcPr marL="76200" marR="76200" marT="25400" marB="25400" anchor="ctr">
                    <a:solidFill>
                      <a:srgbClr val="F3F6F4"/>
                    </a:solidFill>
                  </a:tcPr>
                </a:tc>
                <a:tc>
                  <a:txBody>
                    <a:bodyPr/>
                    <a:lstStyle/>
                    <a:p>
                      <a:pPr>
                        <a:defRPr sz="1050">
                          <a:solidFill>
                            <a:srgbClr val="16232B"/>
                          </a:solidFill>
                          <a:latin typeface="Calibri"/>
                        </a:defRPr>
                      </a:pPr>
                      <a:r>
                        <a:t>UC2</a:t>
                      </a:r>
                    </a:p>
                  </a:txBody>
                  <a:tcPr marL="76200" marR="76200" marT="25400" marB="25400" anchor="ctr">
                    <a:solidFill>
                      <a:srgbClr val="F3F6F4"/>
                    </a:solidFill>
                  </a:tcPr>
                </a:tc>
                <a:tc>
                  <a:txBody>
                    <a:bodyPr/>
                    <a:lstStyle/>
                    <a:p>
                      <a:pPr>
                        <a:defRPr sz="1050">
                          <a:solidFill>
                            <a:srgbClr val="16232B"/>
                          </a:solidFill>
                          <a:latin typeface="Calibri"/>
                        </a:defRPr>
                      </a:pPr>
                      <a:r>
                        <a:t>W1</a:t>
                      </a:r>
                    </a:p>
                  </a:txBody>
                  <a:tcPr marL="76200" marR="76200" marT="25400" marB="25400" anchor="ctr">
                    <a:solidFill>
                      <a:srgbClr val="F3F6F4"/>
                    </a:solidFill>
                  </a:tcPr>
                </a:tc>
                <a:tc>
                  <a:txBody>
                    <a:bodyPr/>
                    <a:lstStyle/>
                    <a:p>
                      <a:pPr>
                        <a:defRPr sz="1050">
                          <a:solidFill>
                            <a:srgbClr val="16232B"/>
                          </a:solidFill>
                          <a:latin typeface="Calibri"/>
                        </a:defRPr>
                      </a:pPr>
                      <a:r>
                        <a:t>PRODUCTO</a:t>
                      </a:r>
                    </a:p>
                  </a:txBody>
                  <a:tcPr marL="76200" marR="76200" marT="25400" marB="25400" anchor="ctr">
                    <a:solidFill>
                      <a:srgbClr val="F3F6F4"/>
                    </a:solidFill>
                  </a:tcPr>
                </a:tc>
                <a:tc>
                  <a:txBody>
                    <a:bodyPr/>
                    <a:lstStyle/>
                    <a:p>
                      <a:pPr>
                        <a:defRPr sz="1050">
                          <a:solidFill>
                            <a:srgbClr val="16232B"/>
                          </a:solidFill>
                          <a:latin typeface="Calibri"/>
                        </a:defRPr>
                      </a:pPr>
                      <a:r>
                        <a:t>Implementado (web)</a:t>
                      </a:r>
                    </a:p>
                  </a:txBody>
                  <a:tcPr marL="76200" marR="76200" marT="25400" marB="25400" anchor="ctr">
                    <a:solidFill>
                      <a:srgbClr val="F3F6F4"/>
                    </a:solidFill>
                  </a:tcPr>
                </a:tc>
                <a:extLst>
                  <a:ext uri="{0D108BD9-81ED-4DB2-BD59-A6C34878D82A}">
                    <a16:rowId xmlns:a16="http://schemas.microsoft.com/office/drawing/2014/main" val="10005"/>
                  </a:ext>
                </a:extLst>
              </a:tr>
              <a:tr h="525780">
                <a:tc>
                  <a:txBody>
                    <a:bodyPr/>
                    <a:lstStyle/>
                    <a:p>
                      <a:pPr>
                        <a:defRPr sz="1050">
                          <a:solidFill>
                            <a:srgbClr val="16232B"/>
                          </a:solidFill>
                          <a:latin typeface="Calibri"/>
                        </a:defRPr>
                      </a:pPr>
                      <a:r>
                        <a:t>HU-05</a:t>
                      </a:r>
                    </a:p>
                  </a:txBody>
                  <a:tcPr marL="76200" marR="76200" marT="25400" marB="25400" anchor="ctr">
                    <a:solidFill>
                      <a:srgbClr val="FFFFFF"/>
                    </a:solidFill>
                  </a:tcPr>
                </a:tc>
                <a:tc>
                  <a:txBody>
                    <a:bodyPr/>
                    <a:lstStyle/>
                    <a:p>
                      <a:pPr>
                        <a:defRPr sz="1050">
                          <a:solidFill>
                            <a:srgbClr val="16232B"/>
                          </a:solidFill>
                          <a:latin typeface="Calibri"/>
                        </a:defRPr>
                      </a:pPr>
                      <a:r>
                        <a:t>—</a:t>
                      </a:r>
                    </a:p>
                  </a:txBody>
                  <a:tcPr marL="76200" marR="76200" marT="25400" marB="25400" anchor="ctr">
                    <a:solidFill>
                      <a:srgbClr val="FFFFFF"/>
                    </a:solidFill>
                  </a:tcPr>
                </a:tc>
                <a:tc>
                  <a:txBody>
                    <a:bodyPr/>
                    <a:lstStyle/>
                    <a:p>
                      <a:pPr>
                        <a:defRPr sz="1050">
                          <a:solidFill>
                            <a:srgbClr val="16232B"/>
                          </a:solidFill>
                          <a:latin typeface="Calibri"/>
                        </a:defRPr>
                      </a:pPr>
                      <a:r>
                        <a:t>—</a:t>
                      </a:r>
                    </a:p>
                  </a:txBody>
                  <a:tcPr marL="76200" marR="76200" marT="25400" marB="25400" anchor="ctr">
                    <a:solidFill>
                      <a:srgbClr val="FFFFFF"/>
                    </a:solidFill>
                  </a:tcPr>
                </a:tc>
                <a:tc>
                  <a:txBody>
                    <a:bodyPr/>
                    <a:lstStyle/>
                    <a:p>
                      <a:pPr>
                        <a:defRPr sz="1050">
                          <a:solidFill>
                            <a:srgbClr val="16232B"/>
                          </a:solidFill>
                          <a:latin typeface="Calibri"/>
                        </a:defRPr>
                      </a:pPr>
                      <a:r>
                        <a:t>—</a:t>
                      </a:r>
                    </a:p>
                  </a:txBody>
                  <a:tcPr marL="76200" marR="76200" marT="25400" marB="25400" anchor="ctr">
                    <a:solidFill>
                      <a:srgbClr val="FFFFFF"/>
                    </a:solidFill>
                  </a:tcPr>
                </a:tc>
                <a:tc>
                  <a:txBody>
                    <a:bodyPr/>
                    <a:lstStyle/>
                    <a:p>
                      <a:pPr>
                        <a:defRPr sz="1050">
                          <a:solidFill>
                            <a:srgbClr val="16232B"/>
                          </a:solidFill>
                          <a:latin typeface="Calibri"/>
                        </a:defRPr>
                      </a:pPr>
                      <a:r>
                        <a:t>Fuera de alcance</a:t>
                      </a:r>
                    </a:p>
                  </a:txBody>
                  <a:tcPr marL="76200" marR="76200" marT="25400" marB="25400" anchor="ctr">
                    <a:solidFill>
                      <a:srgbClr val="FFFFFF"/>
                    </a:solidFill>
                  </a:tcPr>
                </a:tc>
                <a:extLst>
                  <a:ext uri="{0D108BD9-81ED-4DB2-BD59-A6C34878D82A}">
                    <a16:rowId xmlns:a16="http://schemas.microsoft.com/office/drawing/2014/main" val="10006"/>
                  </a:ext>
                </a:extLst>
              </a:tr>
              <a:tr h="525780">
                <a:tc>
                  <a:txBody>
                    <a:bodyPr/>
                    <a:lstStyle/>
                    <a:p>
                      <a:pPr>
                        <a:defRPr sz="1050">
                          <a:solidFill>
                            <a:srgbClr val="16232B"/>
                          </a:solidFill>
                          <a:latin typeface="Calibri"/>
                        </a:defRPr>
                      </a:pPr>
                      <a:r>
                        <a:t>HU-07</a:t>
                      </a:r>
                    </a:p>
                  </a:txBody>
                  <a:tcPr marL="76200" marR="76200" marT="25400" marB="25400" anchor="ctr">
                    <a:solidFill>
                      <a:srgbClr val="F3F6F4"/>
                    </a:solidFill>
                  </a:tcPr>
                </a:tc>
                <a:tc>
                  <a:txBody>
                    <a:bodyPr/>
                    <a:lstStyle/>
                    <a:p>
                      <a:pPr>
                        <a:defRPr sz="1050">
                          <a:solidFill>
                            <a:srgbClr val="16232B"/>
                          </a:solidFill>
                          <a:latin typeface="Calibri"/>
                        </a:defRPr>
                      </a:pPr>
                      <a:r>
                        <a:t>—</a:t>
                      </a:r>
                    </a:p>
                  </a:txBody>
                  <a:tcPr marL="76200" marR="76200" marT="25400" marB="25400" anchor="ctr">
                    <a:solidFill>
                      <a:srgbClr val="F3F6F4"/>
                    </a:solidFill>
                  </a:tcPr>
                </a:tc>
                <a:tc>
                  <a:txBody>
                    <a:bodyPr/>
                    <a:lstStyle/>
                    <a:p>
                      <a:pPr>
                        <a:defRPr sz="1050">
                          <a:solidFill>
                            <a:srgbClr val="16232B"/>
                          </a:solidFill>
                          <a:latin typeface="Calibri"/>
                        </a:defRPr>
                      </a:pPr>
                      <a:r>
                        <a:t>—</a:t>
                      </a:r>
                    </a:p>
                  </a:txBody>
                  <a:tcPr marL="76200" marR="76200" marT="25400" marB="25400" anchor="ctr">
                    <a:solidFill>
                      <a:srgbClr val="F3F6F4"/>
                    </a:solidFill>
                  </a:tcPr>
                </a:tc>
                <a:tc>
                  <a:txBody>
                    <a:bodyPr/>
                    <a:lstStyle/>
                    <a:p>
                      <a:pPr>
                        <a:defRPr sz="1050">
                          <a:solidFill>
                            <a:srgbClr val="16232B"/>
                          </a:solidFill>
                          <a:latin typeface="Calibri"/>
                        </a:defRPr>
                      </a:pPr>
                      <a:r>
                        <a:t>—</a:t>
                      </a:r>
                    </a:p>
                  </a:txBody>
                  <a:tcPr marL="76200" marR="76200" marT="25400" marB="25400" anchor="ctr">
                    <a:solidFill>
                      <a:srgbClr val="F3F6F4"/>
                    </a:solidFill>
                  </a:tcPr>
                </a:tc>
                <a:tc>
                  <a:txBody>
                    <a:bodyPr/>
                    <a:lstStyle/>
                    <a:p>
                      <a:pPr>
                        <a:defRPr sz="1050">
                          <a:solidFill>
                            <a:srgbClr val="16232B"/>
                          </a:solidFill>
                          <a:latin typeface="Calibri"/>
                        </a:defRPr>
                      </a:pPr>
                      <a:r>
                        <a:t>Fuera de alcance</a:t>
                      </a:r>
                    </a:p>
                  </a:txBody>
                  <a:tcPr marL="76200" marR="76200" marT="25400" marB="25400" anchor="ctr">
                    <a:solidFill>
                      <a:srgbClr val="F3F6F4"/>
                    </a:solidFill>
                  </a:tcPr>
                </a:tc>
                <a:extLst>
                  <a:ext uri="{0D108BD9-81ED-4DB2-BD59-A6C34878D82A}">
                    <a16:rowId xmlns:a16="http://schemas.microsoft.com/office/drawing/2014/main" val="10007"/>
                  </a:ext>
                </a:extLst>
              </a:tr>
            </a:tbl>
          </a:graphicData>
        </a:graphic>
      </p:graphicFrame>
      <p:sp>
        <p:nvSpPr>
          <p:cNvPr id="6" name="Rectangle 5"/>
          <p:cNvSpPr/>
          <p:nvPr/>
        </p:nvSpPr>
        <p:spPr>
          <a:xfrm>
            <a:off x="0" y="6528816"/>
            <a:ext cx="12191695" cy="18288"/>
          </a:xfrm>
          <a:prstGeom prst="rect">
            <a:avLst/>
          </a:prstGeom>
          <a:solidFill>
            <a:srgbClr val="C9D2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7315200" cy="274320"/>
          </a:xfrm>
          <a:prstGeom prst="rect">
            <a:avLst/>
          </a:prstGeom>
          <a:noFill/>
        </p:spPr>
        <p:txBody>
          <a:bodyPr wrap="square" lIns="0" tIns="0" rIns="0" bIns="0" anchor="t">
            <a:spAutoFit/>
          </a:bodyPr>
          <a:lstStyle/>
          <a:p>
            <a:pPr algn="l">
              <a:lnSpc>
                <a:spcPct val="100000"/>
              </a:lnSpc>
            </a:pPr>
            <a:r>
              <a:rPr sz="900" b="0" i="0">
                <a:solidFill>
                  <a:srgbClr val="57666C"/>
                </a:solidFill>
                <a:latin typeface="Calibri"/>
              </a:rPr>
              <a:t>FoodVoice · AINC422 · Semana 4</a:t>
            </a:r>
          </a:p>
        </p:txBody>
      </p:sp>
      <p:sp>
        <p:nvSpPr>
          <p:cNvPr id="8" name="TextBox 7"/>
          <p:cNvSpPr txBox="1"/>
          <p:nvPr/>
        </p:nvSpPr>
        <p:spPr>
          <a:xfrm>
            <a:off x="11094415" y="6583680"/>
            <a:ext cx="640080" cy="274320"/>
          </a:xfrm>
          <a:prstGeom prst="rect">
            <a:avLst/>
          </a:prstGeom>
          <a:noFill/>
        </p:spPr>
        <p:txBody>
          <a:bodyPr wrap="square" lIns="0" tIns="0" rIns="0" bIns="0" anchor="t">
            <a:spAutoFit/>
          </a:bodyPr>
          <a:lstStyle/>
          <a:p>
            <a:pPr algn="r">
              <a:lnSpc>
                <a:spcPct val="100000"/>
              </a:lnSpc>
            </a:pPr>
            <a:r>
              <a:rPr sz="900" b="0" i="0">
                <a:solidFill>
                  <a:srgbClr val="57666C"/>
                </a:solidFill>
                <a:latin typeface="Calibr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3F6F4"/>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lgn="l">
              <a:lnSpc>
                <a:spcPct val="100000"/>
              </a:lnSpc>
            </a:pPr>
            <a:r>
              <a:rPr sz="1200" b="1" i="0">
                <a:solidFill>
                  <a:srgbClr val="D9821F"/>
                </a:solidFill>
                <a:latin typeface="Calibri"/>
              </a:rPr>
              <a:t>GESTIÓN Y CIERRE</a:t>
            </a:r>
          </a:p>
        </p:txBody>
      </p:sp>
      <p:sp>
        <p:nvSpPr>
          <p:cNvPr id="3" name="TextBox 2"/>
          <p:cNvSpPr txBox="1"/>
          <p:nvPr/>
        </p:nvSpPr>
        <p:spPr>
          <a:xfrm>
            <a:off x="548640" y="704088"/>
            <a:ext cx="11064240" cy="640080"/>
          </a:xfrm>
          <a:prstGeom prst="rect">
            <a:avLst/>
          </a:prstGeom>
          <a:noFill/>
        </p:spPr>
        <p:txBody>
          <a:bodyPr wrap="square" lIns="0" tIns="0" rIns="0" bIns="0" anchor="t">
            <a:spAutoFit/>
          </a:bodyPr>
          <a:lstStyle/>
          <a:p>
            <a:pPr algn="l">
              <a:lnSpc>
                <a:spcPct val="100000"/>
              </a:lnSpc>
            </a:pPr>
            <a:r>
              <a:rPr sz="2800" b="1" i="0">
                <a:solidFill>
                  <a:srgbClr val="16232B"/>
                </a:solidFill>
                <a:latin typeface="Calibri"/>
              </a:rPr>
              <a:t>Conclusiones</a:t>
            </a:r>
          </a:p>
        </p:txBody>
      </p:sp>
      <p:sp>
        <p:nvSpPr>
          <p:cNvPr id="4" name="Rectangle 3"/>
          <p:cNvSpPr/>
          <p:nvPr/>
        </p:nvSpPr>
        <p:spPr>
          <a:xfrm>
            <a:off x="548640" y="1271016"/>
            <a:ext cx="2743200" cy="27432"/>
          </a:xfrm>
          <a:prstGeom prst="rect">
            <a:avLst/>
          </a:prstGeom>
          <a:solidFill>
            <a:srgbClr val="D9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82496"/>
            <a:ext cx="10789920" cy="3840480"/>
          </a:xfrm>
          <a:prstGeom prst="rect">
            <a:avLst/>
          </a:prstGeom>
          <a:noFill/>
        </p:spPr>
        <p:txBody>
          <a:bodyPr wrap="square" lIns="0" tIns="0">
            <a:spAutoFit/>
          </a:bodyPr>
          <a:lstStyle/>
          <a:p>
            <a:pPr>
              <a:lnSpc>
                <a:spcPct val="112000"/>
              </a:lnSpc>
              <a:spcAft>
                <a:spcPts val="1000"/>
              </a:spcAft>
            </a:pPr>
            <a:r>
              <a:rPr sz="1600" b="1">
                <a:solidFill>
                  <a:srgbClr val="D9821F"/>
                </a:solidFill>
                <a:latin typeface="Calibri"/>
              </a:rPr>
              <a:t>—  </a:t>
            </a:r>
            <a:r>
              <a:rPr sz="1600">
                <a:solidFill>
                  <a:srgbClr val="16232B"/>
                </a:solidFill>
                <a:latin typeface="Calibri"/>
              </a:rPr>
              <a:t>El problema de FoodVoice es operativo y tecnológico; la solución ataca sus cinco causas raíz.</a:t>
            </a:r>
          </a:p>
          <a:p>
            <a:pPr>
              <a:lnSpc>
                <a:spcPct val="112000"/>
              </a:lnSpc>
              <a:spcAft>
                <a:spcPts val="1000"/>
              </a:spcAft>
            </a:pPr>
            <a:r>
              <a:rPr sz="1600" b="1">
                <a:solidFill>
                  <a:srgbClr val="D9821F"/>
                </a:solidFill>
                <a:latin typeface="Calibri"/>
              </a:rPr>
              <a:t>—  </a:t>
            </a:r>
            <a:r>
              <a:rPr sz="1600">
                <a:solidFill>
                  <a:srgbClr val="16232B"/>
                </a:solidFill>
                <a:latin typeface="Calibri"/>
              </a:rPr>
              <a:t>El alcance del MPV es defendible: prioriza historias de alto impacto y deja fuera funcionalidades complementarias.</a:t>
            </a:r>
          </a:p>
          <a:p>
            <a:pPr>
              <a:lnSpc>
                <a:spcPct val="112000"/>
              </a:lnSpc>
              <a:spcAft>
                <a:spcPts val="1000"/>
              </a:spcAft>
            </a:pPr>
            <a:r>
              <a:rPr sz="1600" b="1">
                <a:solidFill>
                  <a:srgbClr val="D9821F"/>
                </a:solidFill>
                <a:latin typeface="Calibri"/>
              </a:rPr>
              <a:t>—  </a:t>
            </a:r>
            <a:r>
              <a:rPr sz="1600">
                <a:solidFill>
                  <a:srgbClr val="16232B"/>
                </a:solidFill>
                <a:latin typeface="Calibri"/>
              </a:rPr>
              <a:t>El prototipo demuestra viabilidad técnica con APIs reales (voz y geolocalización), sin sobredimensionar la infraestructura para esta etapa.</a:t>
            </a:r>
          </a:p>
          <a:p>
            <a:pPr>
              <a:lnSpc>
                <a:spcPct val="112000"/>
              </a:lnSpc>
              <a:spcAft>
                <a:spcPts val="1000"/>
              </a:spcAft>
            </a:pPr>
            <a:r>
              <a:rPr sz="1600" b="1">
                <a:solidFill>
                  <a:srgbClr val="D9821F"/>
                </a:solidFill>
                <a:latin typeface="Calibri"/>
              </a:rPr>
              <a:t>—  </a:t>
            </a:r>
            <a:r>
              <a:rPr sz="1600">
                <a:solidFill>
                  <a:srgbClr val="16232B"/>
                </a:solidFill>
                <a:latin typeface="Calibri"/>
              </a:rPr>
              <a:t>Próximo sprint: HU-05, HU-07 y evolución hacia un backend real con persistencia.</a:t>
            </a:r>
          </a:p>
        </p:txBody>
      </p:sp>
      <p:sp>
        <p:nvSpPr>
          <p:cNvPr id="6" name="Rectangle 5"/>
          <p:cNvSpPr/>
          <p:nvPr/>
        </p:nvSpPr>
        <p:spPr>
          <a:xfrm>
            <a:off x="0" y="6528816"/>
            <a:ext cx="12191695" cy="18288"/>
          </a:xfrm>
          <a:prstGeom prst="rect">
            <a:avLst/>
          </a:prstGeom>
          <a:solidFill>
            <a:srgbClr val="C9D2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7315200" cy="274320"/>
          </a:xfrm>
          <a:prstGeom prst="rect">
            <a:avLst/>
          </a:prstGeom>
          <a:noFill/>
        </p:spPr>
        <p:txBody>
          <a:bodyPr wrap="square" lIns="0" tIns="0" rIns="0" bIns="0" anchor="t">
            <a:spAutoFit/>
          </a:bodyPr>
          <a:lstStyle/>
          <a:p>
            <a:pPr algn="l">
              <a:lnSpc>
                <a:spcPct val="100000"/>
              </a:lnSpc>
            </a:pPr>
            <a:r>
              <a:rPr sz="900" b="0" i="0">
                <a:solidFill>
                  <a:srgbClr val="57666C"/>
                </a:solidFill>
                <a:latin typeface="Calibri"/>
              </a:rPr>
              <a:t>FoodVoice · AINC422 · Semana 4</a:t>
            </a:r>
          </a:p>
        </p:txBody>
      </p:sp>
      <p:sp>
        <p:nvSpPr>
          <p:cNvPr id="8" name="TextBox 7"/>
          <p:cNvSpPr txBox="1"/>
          <p:nvPr/>
        </p:nvSpPr>
        <p:spPr>
          <a:xfrm>
            <a:off x="11094415" y="6583680"/>
            <a:ext cx="640080" cy="274320"/>
          </a:xfrm>
          <a:prstGeom prst="rect">
            <a:avLst/>
          </a:prstGeom>
          <a:noFill/>
        </p:spPr>
        <p:txBody>
          <a:bodyPr wrap="square" lIns="0" tIns="0" rIns="0" bIns="0" anchor="t">
            <a:spAutoFit/>
          </a:bodyPr>
          <a:lstStyle/>
          <a:p>
            <a:pPr algn="r">
              <a:lnSpc>
                <a:spcPct val="100000"/>
              </a:lnSpc>
            </a:pPr>
            <a:r>
              <a:rPr sz="900" b="0" i="0">
                <a:solidFill>
                  <a:srgbClr val="57666C"/>
                </a:solidFill>
                <a:latin typeface="Calibr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3F6F4"/>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144000" cy="274320"/>
          </a:xfrm>
          <a:prstGeom prst="rect">
            <a:avLst/>
          </a:prstGeom>
          <a:noFill/>
        </p:spPr>
        <p:txBody>
          <a:bodyPr wrap="square" lIns="0" tIns="0" rIns="0" bIns="0" anchor="t">
            <a:spAutoFit/>
          </a:bodyPr>
          <a:lstStyle/>
          <a:p>
            <a:pPr algn="l">
              <a:lnSpc>
                <a:spcPct val="100000"/>
              </a:lnSpc>
            </a:pPr>
            <a:r>
              <a:rPr sz="1200" b="1" i="0">
                <a:solidFill>
                  <a:srgbClr val="D9821F"/>
                </a:solidFill>
                <a:latin typeface="Calibri"/>
              </a:rPr>
              <a:t>GESTIÓN Y CIERRE</a:t>
            </a:r>
          </a:p>
        </p:txBody>
      </p:sp>
      <p:sp>
        <p:nvSpPr>
          <p:cNvPr id="3" name="TextBox 2"/>
          <p:cNvSpPr txBox="1"/>
          <p:nvPr/>
        </p:nvSpPr>
        <p:spPr>
          <a:xfrm>
            <a:off x="548640" y="704088"/>
            <a:ext cx="11064240" cy="640080"/>
          </a:xfrm>
          <a:prstGeom prst="rect">
            <a:avLst/>
          </a:prstGeom>
          <a:noFill/>
        </p:spPr>
        <p:txBody>
          <a:bodyPr wrap="square" lIns="0" tIns="0" rIns="0" bIns="0" anchor="t">
            <a:spAutoFit/>
          </a:bodyPr>
          <a:lstStyle/>
          <a:p>
            <a:pPr algn="l">
              <a:lnSpc>
                <a:spcPct val="100000"/>
              </a:lnSpc>
            </a:pPr>
            <a:r>
              <a:rPr sz="2800" b="1" i="0">
                <a:solidFill>
                  <a:srgbClr val="16232B"/>
                </a:solidFill>
                <a:latin typeface="Calibri"/>
              </a:rPr>
              <a:t>Bibliografía</a:t>
            </a:r>
          </a:p>
        </p:txBody>
      </p:sp>
      <p:sp>
        <p:nvSpPr>
          <p:cNvPr id="4" name="Rectangle 3"/>
          <p:cNvSpPr/>
          <p:nvPr/>
        </p:nvSpPr>
        <p:spPr>
          <a:xfrm>
            <a:off x="548640" y="1271016"/>
            <a:ext cx="2743200" cy="27432"/>
          </a:xfrm>
          <a:prstGeom prst="rect">
            <a:avLst/>
          </a:prstGeom>
          <a:solidFill>
            <a:srgbClr val="D9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591056"/>
            <a:ext cx="10881360" cy="4114800"/>
          </a:xfrm>
          <a:prstGeom prst="rect">
            <a:avLst/>
          </a:prstGeom>
          <a:noFill/>
        </p:spPr>
        <p:txBody>
          <a:bodyPr wrap="square" lIns="0" tIns="0">
            <a:spAutoFit/>
          </a:bodyPr>
          <a:lstStyle/>
          <a:p>
            <a:pPr>
              <a:lnSpc>
                <a:spcPct val="112000"/>
              </a:lnSpc>
              <a:spcAft>
                <a:spcPts val="800"/>
              </a:spcAft>
            </a:pPr>
            <a:r>
              <a:rPr sz="1300" b="1">
                <a:solidFill>
                  <a:srgbClr val="D9821F"/>
                </a:solidFill>
                <a:latin typeface="Calibri"/>
              </a:rPr>
              <a:t>—  </a:t>
            </a:r>
            <a:r>
              <a:rPr sz="1300">
                <a:solidFill>
                  <a:srgbClr val="16232B"/>
                </a:solidFill>
                <a:latin typeface="Calibri"/>
              </a:rPr>
              <a:t>García Quintupil, C. R. (2026a, 2026b, 2026c). Informes 1, 2 y final del anteproyecto FoodVoice. Universidad Andrés Bello.</a:t>
            </a:r>
          </a:p>
          <a:p>
            <a:pPr>
              <a:lnSpc>
                <a:spcPct val="112000"/>
              </a:lnSpc>
              <a:spcAft>
                <a:spcPts val="800"/>
              </a:spcAft>
            </a:pPr>
            <a:r>
              <a:rPr sz="1300" b="1">
                <a:solidFill>
                  <a:srgbClr val="D9821F"/>
                </a:solidFill>
                <a:latin typeface="Calibri"/>
              </a:rPr>
              <a:t>—  </a:t>
            </a:r>
            <a:r>
              <a:rPr sz="1300">
                <a:solidFill>
                  <a:srgbClr val="16232B"/>
                </a:solidFill>
                <a:latin typeface="Calibri"/>
              </a:rPr>
              <a:t>Project Management Institute. (2021). A guide to the project management body of knowledge (PMBOK guide) (7.ª ed.).</a:t>
            </a:r>
          </a:p>
          <a:p>
            <a:pPr>
              <a:lnSpc>
                <a:spcPct val="112000"/>
              </a:lnSpc>
              <a:spcAft>
                <a:spcPts val="800"/>
              </a:spcAft>
            </a:pPr>
            <a:r>
              <a:rPr sz="1300" b="1">
                <a:solidFill>
                  <a:srgbClr val="D9821F"/>
                </a:solidFill>
                <a:latin typeface="Calibri"/>
              </a:rPr>
              <a:t>—  </a:t>
            </a:r>
            <a:r>
              <a:rPr sz="1300">
                <a:solidFill>
                  <a:srgbClr val="16232B"/>
                </a:solidFill>
                <a:latin typeface="Calibri"/>
              </a:rPr>
              <a:t>Schwaber, K., &amp; Sutherland, J. (2020). The Scrum Guide: The definitive guide to Scrum. Scrum.org.</a:t>
            </a:r>
          </a:p>
          <a:p>
            <a:pPr>
              <a:lnSpc>
                <a:spcPct val="112000"/>
              </a:lnSpc>
              <a:spcAft>
                <a:spcPts val="800"/>
              </a:spcAft>
            </a:pPr>
            <a:r>
              <a:rPr sz="1300" b="1">
                <a:solidFill>
                  <a:srgbClr val="D9821F"/>
                </a:solidFill>
                <a:latin typeface="Calibri"/>
              </a:rPr>
              <a:t>—  </a:t>
            </a:r>
            <a:r>
              <a:rPr sz="1300">
                <a:solidFill>
                  <a:srgbClr val="16232B"/>
                </a:solidFill>
                <a:latin typeface="Calibri"/>
              </a:rPr>
              <a:t>Sommerville, I. (2016). Software engineering (10.ª ed.). Pearson.</a:t>
            </a:r>
          </a:p>
          <a:p>
            <a:pPr>
              <a:lnSpc>
                <a:spcPct val="112000"/>
              </a:lnSpc>
              <a:spcAft>
                <a:spcPts val="800"/>
              </a:spcAft>
            </a:pPr>
            <a:r>
              <a:rPr sz="1300" b="1">
                <a:solidFill>
                  <a:srgbClr val="D9821F"/>
                </a:solidFill>
                <a:latin typeface="Calibri"/>
              </a:rPr>
              <a:t>—  </a:t>
            </a:r>
            <a:r>
              <a:rPr sz="1300">
                <a:solidFill>
                  <a:srgbClr val="16232B"/>
                </a:solidFill>
                <a:latin typeface="Calibri"/>
              </a:rPr>
              <a:t>Mozilla Developer Network. (2026). Geolocation API · Web Speech API. MDN Web Docs.</a:t>
            </a:r>
          </a:p>
          <a:p>
            <a:pPr>
              <a:lnSpc>
                <a:spcPct val="112000"/>
              </a:lnSpc>
              <a:spcAft>
                <a:spcPts val="800"/>
              </a:spcAft>
            </a:pPr>
            <a:r>
              <a:rPr sz="1300" b="1">
                <a:solidFill>
                  <a:srgbClr val="D9821F"/>
                </a:solidFill>
                <a:latin typeface="Calibri"/>
              </a:rPr>
              <a:t>—  </a:t>
            </a:r>
            <a:r>
              <a:rPr sz="1300">
                <a:solidFill>
                  <a:srgbClr val="16232B"/>
                </a:solidFill>
                <a:latin typeface="Calibri"/>
              </a:rPr>
              <a:t>Meta Open Source / Expo. (s. f.). React Native · Expo documentation.</a:t>
            </a:r>
          </a:p>
        </p:txBody>
      </p:sp>
      <p:sp>
        <p:nvSpPr>
          <p:cNvPr id="6" name="Rectangle 5"/>
          <p:cNvSpPr/>
          <p:nvPr/>
        </p:nvSpPr>
        <p:spPr>
          <a:xfrm>
            <a:off x="0" y="6528816"/>
            <a:ext cx="12191695" cy="18288"/>
          </a:xfrm>
          <a:prstGeom prst="rect">
            <a:avLst/>
          </a:prstGeom>
          <a:solidFill>
            <a:srgbClr val="C9D2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7315200" cy="274320"/>
          </a:xfrm>
          <a:prstGeom prst="rect">
            <a:avLst/>
          </a:prstGeom>
          <a:noFill/>
        </p:spPr>
        <p:txBody>
          <a:bodyPr wrap="square" lIns="0" tIns="0" rIns="0" bIns="0" anchor="t">
            <a:spAutoFit/>
          </a:bodyPr>
          <a:lstStyle/>
          <a:p>
            <a:pPr algn="l">
              <a:lnSpc>
                <a:spcPct val="100000"/>
              </a:lnSpc>
            </a:pPr>
            <a:r>
              <a:rPr sz="900" b="0" i="0">
                <a:solidFill>
                  <a:srgbClr val="57666C"/>
                </a:solidFill>
                <a:latin typeface="Calibri"/>
              </a:rPr>
              <a:t>FoodVoice · AINC422 · Semana 4</a:t>
            </a:r>
          </a:p>
        </p:txBody>
      </p:sp>
      <p:sp>
        <p:nvSpPr>
          <p:cNvPr id="8" name="TextBox 7"/>
          <p:cNvSpPr txBox="1"/>
          <p:nvPr/>
        </p:nvSpPr>
        <p:spPr>
          <a:xfrm>
            <a:off x="11094415" y="6583680"/>
            <a:ext cx="640080" cy="274320"/>
          </a:xfrm>
          <a:prstGeom prst="rect">
            <a:avLst/>
          </a:prstGeom>
          <a:noFill/>
        </p:spPr>
        <p:txBody>
          <a:bodyPr wrap="square" lIns="0" tIns="0" rIns="0" bIns="0" anchor="t">
            <a:spAutoFit/>
          </a:bodyPr>
          <a:lstStyle/>
          <a:p>
            <a:pPr algn="r">
              <a:lnSpc>
                <a:spcPct val="100000"/>
              </a:lnSpc>
            </a:pPr>
            <a:r>
              <a:rPr sz="900" b="0" i="0">
                <a:solidFill>
                  <a:srgbClr val="57666C"/>
                </a:solidFill>
                <a:latin typeface="Calibri"/>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177</TotalTime>
  <Words>3530</Words>
  <Application>Microsoft Office PowerPoint</Application>
  <PresentationFormat>Widescreen</PresentationFormat>
  <Paragraphs>322</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Carlos Renato García Quintupil</cp:lastModifiedBy>
  <cp:revision>3</cp:revision>
  <dcterms:created xsi:type="dcterms:W3CDTF">2013-01-27T09:14:16Z</dcterms:created>
  <dcterms:modified xsi:type="dcterms:W3CDTF">2026-07-25T17:43:08Z</dcterms:modified>
  <cp:category/>
</cp:coreProperties>
</file>